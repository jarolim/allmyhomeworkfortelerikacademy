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4"/>
  </p:notesMasterIdLst>
  <p:handoutMasterIdLst>
    <p:handoutMasterId r:id="rId25"/>
  </p:handoutMasterIdLst>
  <p:sldIdLst>
    <p:sldId id="338" r:id="rId2"/>
    <p:sldId id="335" r:id="rId3"/>
    <p:sldId id="470" r:id="rId4"/>
    <p:sldId id="468" r:id="rId5"/>
    <p:sldId id="469" r:id="rId6"/>
    <p:sldId id="429" r:id="rId7"/>
    <p:sldId id="454" r:id="rId8"/>
    <p:sldId id="463" r:id="rId9"/>
    <p:sldId id="426" r:id="rId10"/>
    <p:sldId id="456" r:id="rId11"/>
    <p:sldId id="458" r:id="rId12"/>
    <p:sldId id="457" r:id="rId13"/>
    <p:sldId id="459" r:id="rId14"/>
    <p:sldId id="461" r:id="rId15"/>
    <p:sldId id="462" r:id="rId16"/>
    <p:sldId id="472" r:id="rId17"/>
    <p:sldId id="471" r:id="rId18"/>
    <p:sldId id="466" r:id="rId19"/>
    <p:sldId id="465" r:id="rId20"/>
    <p:sldId id="334" r:id="rId21"/>
    <p:sldId id="464" r:id="rId22"/>
    <p:sldId id="403" r:id="rId23"/>
  </p:sldIdLst>
  <p:sldSz cx="9144000" cy="6858000" type="screen4x3"/>
  <p:notesSz cx="6881813" cy="9296400"/>
  <p:custDataLst>
    <p:tags r:id="rId2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5pPr>
    <a:lvl6pPr marL="22860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6pPr>
    <a:lvl7pPr marL="27432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7pPr>
    <a:lvl8pPr marL="32004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8pPr>
    <a:lvl9pPr marL="36576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and Table of Contents" id="{F53AB8A6-5416-45EE-A6C2-F0E18F6A2F91}">
          <p14:sldIdLst>
            <p14:sldId id="338"/>
            <p14:sldId id="335"/>
          </p14:sldIdLst>
        </p14:section>
        <p14:section name="Scaffolding" id="{B33C9A9D-0052-4063-B3FE-A659D35A6C93}">
          <p14:sldIdLst>
            <p14:sldId id="470"/>
            <p14:sldId id="468"/>
            <p14:sldId id="469"/>
          </p14:sldIdLst>
        </p14:section>
        <p14:section name="Model Binders" id="{6ECA7832-8107-49EE-A0CC-9D6CAF1D681D}">
          <p14:sldIdLst>
            <p14:sldId id="429"/>
            <p14:sldId id="454"/>
            <p14:sldId id="463"/>
          </p14:sldIdLst>
        </p14:section>
        <p14:section name="Data Validation" id="{422460BE-98E3-4BBE-B9F2-A48820B6911A}">
          <p14:sldIdLst>
            <p14:sldId id="426"/>
            <p14:sldId id="456"/>
            <p14:sldId id="458"/>
            <p14:sldId id="457"/>
            <p14:sldId id="459"/>
            <p14:sldId id="461"/>
            <p14:sldId id="462"/>
          </p14:sldIdLst>
        </p14:section>
        <p14:section name="Session[], TempData[], Cache[]" id="{10CBBEBD-3301-42F6-A5B3-0D4F2C30A146}">
          <p14:sldIdLst>
            <p14:sldId id="472"/>
            <p14:sldId id="471"/>
          </p14:sldIdLst>
        </p14:section>
        <p14:section name="Working with Real Data" id="{8C82B9CC-4D99-4C45-A0A5-DBFCE95D573D}">
          <p14:sldIdLst>
            <p14:sldId id="466"/>
            <p14:sldId id="465"/>
          </p14:sldIdLst>
        </p14:section>
        <p14:section name="Summary, Questions, Homework" id="{052859EC-CAE7-45AF-B838-B3EBFE380EB4}">
          <p14:sldIdLst>
            <p14:sldId id="334"/>
            <p14:sldId id="464"/>
            <p14:sldId id="4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BCC00"/>
    <a:srgbClr val="9ED000"/>
    <a:srgbClr val="F4FCD8"/>
    <a:srgbClr val="E8FFC8"/>
    <a:srgbClr val="FAF7C8"/>
    <a:srgbClr val="FAF8C8"/>
    <a:srgbClr val="F5FFC2"/>
    <a:srgbClr val="EBFFD2"/>
    <a:srgbClr val="EBF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00" autoAdjust="0"/>
    <p:restoredTop sz="94468" autoAdjust="0"/>
  </p:normalViewPr>
  <p:slideViewPr>
    <p:cSldViewPr>
      <p:cViewPr varScale="1">
        <p:scale>
          <a:sx n="106" d="100"/>
          <a:sy n="106" d="100"/>
        </p:scale>
        <p:origin x="103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778" y="-96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BF7C7B5-275F-4D1F-9AB4-9255447DBC73}" type="datetimeFigureOut">
              <a:rPr lang="en-US"/>
              <a:pPr/>
              <a:t>9/24/2013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DADE544-1278-4EDA-8870-0A169B9A6D6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240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9B46F231-FB2B-4655-A644-E2477325E686}" type="datetimeFigureOut">
              <a:rPr lang="en-US"/>
              <a:pPr/>
              <a:t>9/24/2013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7388" y="4416425"/>
            <a:ext cx="5507037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6FB4F6EA-423E-42DF-9292-215E7D886C4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2019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553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2008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B06EDD-DA58-4CEC-8FAE-477FD9274FA7}" type="slidenum">
              <a:rPr lang="en-US"/>
              <a:pPr/>
              <a:t>3</a:t>
            </a:fld>
            <a:r>
              <a:rPr lang="en-US" dirty="0"/>
              <a:t>##</a:t>
            </a:r>
          </a:p>
        </p:txBody>
      </p:sp>
      <p:sp>
        <p:nvSpPr>
          <p:cNvPr id="502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2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281304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2008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B06EDD-DA58-4CEC-8FAE-477FD9274FA7}" type="slidenum">
              <a:rPr lang="en-US"/>
              <a:pPr/>
              <a:t>6</a:t>
            </a:fld>
            <a:r>
              <a:rPr lang="en-US" dirty="0"/>
              <a:t>##</a:t>
            </a:r>
          </a:p>
        </p:txBody>
      </p:sp>
      <p:sp>
        <p:nvSpPr>
          <p:cNvPr id="502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2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587977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2008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B06EDD-DA58-4CEC-8FAE-477FD9274FA7}" type="slidenum">
              <a:rPr lang="en-US"/>
              <a:pPr/>
              <a:t>9</a:t>
            </a:fld>
            <a:r>
              <a:rPr lang="en-US" dirty="0"/>
              <a:t>##</a:t>
            </a:r>
          </a:p>
        </p:txBody>
      </p:sp>
      <p:sp>
        <p:nvSpPr>
          <p:cNvPr id="502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2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621250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mvccourse.telerik.com/" TargetMode="External"/><Relationship Id="rId13" Type="http://schemas.openxmlformats.org/officeDocument/2006/relationships/hyperlink" Target="http://algoacademy.telerik.com/" TargetMode="External"/><Relationship Id="rId18" Type="http://schemas.openxmlformats.org/officeDocument/2006/relationships/hyperlink" Target="http://www.minkov.it/" TargetMode="External"/><Relationship Id="rId3" Type="http://schemas.openxmlformats.org/officeDocument/2006/relationships/hyperlink" Target="http://kursove-uroci-knigi-obuchenie-programirane-web-design-csharp.info/" TargetMode="External"/><Relationship Id="rId7" Type="http://schemas.openxmlformats.org/officeDocument/2006/relationships/hyperlink" Target="http://schoolacademy.telerik.com/" TargetMode="External"/><Relationship Id="rId12" Type="http://schemas.openxmlformats.org/officeDocument/2006/relationships/hyperlink" Target="http://codecourse.telerik.com/" TargetMode="External"/><Relationship Id="rId17" Type="http://schemas.openxmlformats.org/officeDocument/2006/relationships/hyperlink" Target="http://www.introprogramming.info/" TargetMode="External"/><Relationship Id="rId2" Type="http://schemas.openxmlformats.org/officeDocument/2006/relationships/hyperlink" Target="http://forums.academy.telerik.com/" TargetMode="External"/><Relationship Id="rId16" Type="http://schemas.openxmlformats.org/officeDocument/2006/relationships/hyperlink" Target="http://mobiledevcourse.telerik.com/" TargetMode="External"/><Relationship Id="rId20" Type="http://schemas.openxmlformats.org/officeDocument/2006/relationships/hyperlink" Target="http://csharpfundamentals.telerik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html5course.telerik.com/" TargetMode="External"/><Relationship Id="rId11" Type="http://schemas.openxmlformats.org/officeDocument/2006/relationships/hyperlink" Target="http://www.nakov.com/" TargetMode="External"/><Relationship Id="rId5" Type="http://schemas.openxmlformats.org/officeDocument/2006/relationships/hyperlink" Target="http://seocourse.telerik.com/" TargetMode="External"/><Relationship Id="rId15" Type="http://schemas.openxmlformats.org/officeDocument/2006/relationships/hyperlink" Target="http://academy.telerik.com/" TargetMode="External"/><Relationship Id="rId10" Type="http://schemas.openxmlformats.org/officeDocument/2006/relationships/hyperlink" Target="http://www.bgcoder.com/" TargetMode="External"/><Relationship Id="rId19" Type="http://schemas.openxmlformats.org/officeDocument/2006/relationships/hyperlink" Target="http://www.nikolay.it/" TargetMode="External"/><Relationship Id="rId4" Type="http://schemas.openxmlformats.org/officeDocument/2006/relationships/hyperlink" Target="http://www.telerik-kids.com/" TargetMode="External"/><Relationship Id="rId9" Type="http://schemas.openxmlformats.org/officeDocument/2006/relationships/hyperlink" Target="http://clouddevcourse.telerik.com/" TargetMode="External"/><Relationship Id="rId14" Type="http://schemas.openxmlformats.org/officeDocument/2006/relationships/hyperlink" Target="http://aspnetcourse.telerik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6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90000" tIns="0" rIns="9000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4572000"/>
            <a:ext cx="3352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dirty="0" smtClean="0">
                <a:solidFill>
                  <a:srgbClr val="DEFF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833646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marL="319088" lvl="0" indent="-319088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1800" b="1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Name</a:t>
            </a:r>
            <a:endParaRPr lang="en-US" sz="1800" b="1" dirty="0">
              <a:solidFill>
                <a:srgbClr val="0EFE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138446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Web Site</a:t>
            </a:r>
            <a:endParaRPr lang="en-US" sz="1600" b="1" dirty="0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029200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en-US" dirty="0"/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405735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Web Site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267200" y="4572000"/>
            <a:ext cx="4419600" cy="190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14400"/>
            <a:ext cx="8686800" cy="5791200"/>
          </a:xfrm>
          <a:prstGeom prst="rect">
            <a:avLst/>
          </a:prstGeom>
        </p:spPr>
        <p:txBody>
          <a:bodyPr/>
          <a:lstStyle>
            <a:lvl1pPr marL="282575" indent="-2825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tabLst>
                <a:tab pos="282575" algn="l"/>
              </a:tabLst>
              <a:defRPr sz="3200">
                <a:solidFill>
                  <a:srgbClr val="EBFFD2"/>
                </a:solidFill>
              </a:defRPr>
            </a:lvl1pPr>
            <a:lvl2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rgbClr val="F5FFC2"/>
                </a:solidFill>
              </a:defRPr>
            </a:lvl3pPr>
            <a:lvl4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4000"/>
              </a:lnSpc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90600"/>
            <a:ext cx="8686800" cy="579646"/>
          </a:xfrm>
          <a:prstGeom prst="rect">
            <a:avLst/>
          </a:prstGeom>
        </p:spPr>
        <p:txBody>
          <a:bodyPr>
            <a:spAutoFit/>
          </a:bodyPr>
          <a:lstStyle>
            <a:lvl1pPr marL="319088" marR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 sz="3000" baseline="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3pPr>
            <a:lvl4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marL="319088" marR="0" lvl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FF66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First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33400" y="1752600"/>
            <a:ext cx="8077200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2000" smtClean="0">
                <a:solidFill>
                  <a:srgbClr val="8CF4F2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pPr lvl="0"/>
            <a:r>
              <a:rPr lang="en-US" noProof="1" smtClean="0"/>
              <a:t>Enter source code here</a:t>
            </a:r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685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 hasCustomPrompt="1"/>
          </p:nvPr>
        </p:nvSpPr>
        <p:spPr>
          <a:xfrm>
            <a:off x="609600" y="2743201"/>
            <a:ext cx="7924800" cy="6858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lnSpc>
                <a:spcPts val="5600"/>
              </a:lnSpc>
              <a:defRPr sz="5000" cap="none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609600" y="3469480"/>
            <a:ext cx="7924800" cy="56912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800" b="1" kern="1200" baseline="0" dirty="0">
                <a:solidFill>
                  <a:srgbClr val="FAF7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Section Subtitle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 userDrawn="1"/>
        </p:nvGrpSpPr>
        <p:grpSpPr>
          <a:xfrm>
            <a:off x="130434" y="6373882"/>
            <a:ext cx="1816798" cy="331718"/>
            <a:chOff x="1236228" y="1523999"/>
            <a:chExt cx="4351212" cy="3261410"/>
          </a:xfrm>
          <a:noFill/>
        </p:grpSpPr>
        <p:sp>
          <p:nvSpPr>
            <p:cNvPr id="31" name="TextBox 30">
              <a:hlinkClick r:id="rId2" tooltip="Форум за програмиране и уеб дизайн - дискусии, съвети, въпроси и отговори @ Софтуерна академия на Телерик"/>
            </p:cNvPr>
            <p:cNvSpPr txBox="1"/>
            <p:nvPr userDrawn="1"/>
          </p:nvSpPr>
          <p:spPr>
            <a:xfrm flipH="1">
              <a:off x="3394420" y="1733044"/>
              <a:ext cx="1528760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форум програмиране, форум уеб дизайн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2" name="TextBox 31">
  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  </p:cNvPr>
            <p:cNvSpPr txBox="1"/>
            <p:nvPr userDrawn="1"/>
          </p:nvSpPr>
          <p:spPr>
            <a:xfrm flipH="1">
              <a:off x="1350512" y="1528531"/>
              <a:ext cx="2008656" cy="114988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курсове и уроци по програмиране, уеб дизайн – безплатно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3" name="TextBox 32">
              <a:hlinkClick r:id="rId4" tooltip="Програмиране за деца - безплатно в Телерик кидс академия"/>
            </p:cNvPr>
            <p:cNvSpPr txBox="1"/>
            <p:nvPr userDrawn="1"/>
          </p:nvSpPr>
          <p:spPr>
            <a:xfrm flipH="1">
              <a:off x="1538277" y="2175145"/>
              <a:ext cx="181669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за деца – безплатни курсове и уроци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4" name="TextBox 33">
              <a:hlinkClick r:id="rId5" tooltip="Безплатен SEO курс - оптимизация за търсачки, уроци по SEO"/>
            </p:cNvPr>
            <p:cNvSpPr txBox="1"/>
            <p:nvPr userDrawn="1"/>
          </p:nvSpPr>
          <p:spPr>
            <a:xfrm flipH="1">
              <a:off x="1660733" y="2421354"/>
              <a:ext cx="169768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безплатен SEO курс - оптимизация за търсачки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5" name="TextBox 34">
              <a:hlinkClick r:id="rId6" tooltip="Безплатен курс &quot;Уеб дизайн с HTML, CSS и JavaScript&quot; - уроци по правене на уеб сайтове, HTML, CSS, Photoshop, JavaScript и CMS системи"/>
            </p:cNvPr>
            <p:cNvSpPr txBox="1"/>
            <p:nvPr userDrawn="1"/>
          </p:nvSpPr>
          <p:spPr>
            <a:xfrm flipH="1">
              <a:off x="1448482" y="2878556"/>
              <a:ext cx="1908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уроци по уеб дизайн, HTML, CSS, JavaScript, Photoshop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6" name="TextBox 35">
              <a:hlinkClick r:id="rId7" tooltip="Училищна софтуерна академия - безплатни уроци по програмиране и уеб дизайн"/>
            </p:cNvPr>
            <p:cNvSpPr txBox="1"/>
            <p:nvPr userDrawn="1"/>
          </p:nvSpPr>
          <p:spPr>
            <a:xfrm flipH="1">
              <a:off x="1636239" y="1946534"/>
              <a:ext cx="174759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уроци по програмиране и уеб дизайн за ученици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7" name="TextBox 36">
              <a:hlinkClick r:id="rId8" tooltip="Безплатен курс &quot;Програмиране с ASP.NET MVC&quot; - уеб технологии, бази данни, C#, .NET, ASP.NET MVC"/>
            </p:cNvPr>
            <p:cNvSpPr txBox="1"/>
            <p:nvPr userDrawn="1"/>
          </p:nvSpPr>
          <p:spPr>
            <a:xfrm flipH="1">
              <a:off x="3402824" y="2230065"/>
              <a:ext cx="193955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MVC курс – HTML, SQL, C#, .NET, ASP.NET MVC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8" name="TextBox 37">
              <a:hlinkClick r:id="rId9" tooltip="Безплатен курс &quot;Разработка на софтуер в Cloud среда&quot; - AppEngine, AWS, Azure"/>
            </p:cNvPr>
            <p:cNvSpPr txBox="1"/>
            <p:nvPr userDrawn="1"/>
          </p:nvSpPr>
          <p:spPr>
            <a:xfrm flipH="1">
              <a:off x="1440310" y="3574997"/>
              <a:ext cx="188196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"Разработка на софтуер в cloud среда"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9" name="TextBox 38">
              <a:hlinkClick r:id="rId10" tooltip="BG Coder - онлайн състезателна система - тренировки за състезания по програмиране - online judge"/>
            </p:cNvPr>
            <p:cNvSpPr txBox="1"/>
            <p:nvPr userDrawn="1"/>
          </p:nvSpPr>
          <p:spPr>
            <a:xfrm flipH="1">
              <a:off x="3389110" y="1523999"/>
              <a:ext cx="187428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BG Coder - онлайн състезателна система - online judge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0" name="TextBox 39">
              <a:hlinkClick r:id="rId11" tooltip="Светлин Наков - курсове и уроци по програмиране, уеб дизайн, книги, обучения - безплатно"/>
            </p:cNvPr>
            <p:cNvSpPr txBox="1"/>
            <p:nvPr userDrawn="1"/>
          </p:nvSpPr>
          <p:spPr>
            <a:xfrm flipH="1">
              <a:off x="1236228" y="2649965"/>
              <a:ext cx="212383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програмиране, книги – безплатно от Наков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1" name="TextBox 40">
              <a:hlinkClick r:id="rId12" tooltip="Безплатен курс &quot;Качествен програмен код&quot;"/>
            </p:cNvPr>
            <p:cNvSpPr txBox="1"/>
            <p:nvPr userDrawn="1"/>
          </p:nvSpPr>
          <p:spPr>
            <a:xfrm flipH="1">
              <a:off x="1766855" y="3335748"/>
              <a:ext cx="159402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"Качествен програмен код"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2" name="TextBox 41">
  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  </p:cNvPr>
            <p:cNvSpPr txBox="1"/>
            <p:nvPr userDrawn="1"/>
          </p:nvSpPr>
          <p:spPr>
            <a:xfrm flipH="1">
              <a:off x="3407676" y="2461282"/>
              <a:ext cx="197794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алго академия – състезателно програмиране, състезания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3" name="TextBox 42">
              <a:hlinkClick r:id="rId14" tooltip="Безплатен ASP.NET курс - уеб програмиране, бази данни, C#, .NET, ASP.NET"/>
            </p:cNvPr>
            <p:cNvSpPr txBox="1"/>
            <p:nvPr userDrawn="1"/>
          </p:nvSpPr>
          <p:spPr>
            <a:xfrm flipH="1">
              <a:off x="3406019" y="1985429"/>
              <a:ext cx="218142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курс - уеб програмиране, бази данни, C#, .NET, ASP.NET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4" name="TextBox 43">
              <a:hlinkClick r:id="rId15" tooltip="Софтуерна академия на Телерик - безплатни курсове и уроци по програмиране"/>
            </p:cNvPr>
            <p:cNvSpPr txBox="1"/>
            <p:nvPr userDrawn="1"/>
          </p:nvSpPr>
          <p:spPr>
            <a:xfrm flipH="1">
              <a:off x="1504800" y="1717933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</a:t>
              </a: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– Телерик академия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5" name="TextBox 44">
              <a:hlinkClick r:id="rId16" tooltip="Безплатен курс &quot;Разработка на мобилни приложения&quot; - iPhone, Android, Windows Phone, PhoneGap, HTML5, jQuery, AJAX"/>
            </p:cNvPr>
            <p:cNvSpPr txBox="1"/>
            <p:nvPr userDrawn="1"/>
          </p:nvSpPr>
          <p:spPr>
            <a:xfrm flipH="1">
              <a:off x="3404043" y="2718405"/>
              <a:ext cx="205856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 мобилни приложения с iPhone, Android, WP7, PhoneGap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6" name="TextBox 45">
              <a:hlinkClick r:id="rId17" tooltip="Free C# Programming Book by Svetlin Nakov - безплатна C# книга от Светлин Наков, книга C#, книга Java, безплатна книга"/>
            </p:cNvPr>
            <p:cNvSpPr txBox="1"/>
            <p:nvPr userDrawn="1"/>
          </p:nvSpPr>
          <p:spPr>
            <a:xfrm flipH="1">
              <a:off x="1440317" y="3117785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free C# book, безплатна книга C#, книга Java, книга C#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7" name="TextBox 46">
              <a:hlinkClick r:id="rId18" tooltip="Дончо Минков - сайт за програмиране"/>
            </p:cNvPr>
            <p:cNvSpPr txBox="1"/>
            <p:nvPr userDrawn="1"/>
          </p:nvSpPr>
          <p:spPr>
            <a:xfrm flipH="1">
              <a:off x="3401370" y="2963513"/>
              <a:ext cx="147501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Дончо Минков - сайт за програмиране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  <p:sp>
          <p:nvSpPr>
            <p:cNvPr id="48" name="TextBox 47">
              <a:hlinkClick r:id="rId19" tooltip="Николай Костов - блог за програмиране"/>
            </p:cNvPr>
            <p:cNvSpPr txBox="1"/>
            <p:nvPr userDrawn="1"/>
          </p:nvSpPr>
          <p:spPr>
            <a:xfrm flipH="1">
              <a:off x="3401423" y="3217864"/>
              <a:ext cx="151340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Николай Костов - блог за програмиране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9" name="TextBox 48">
              <a:hlinkClick r:id="rId20" tooltip="безплатен C# курс в софтуерната академия на Наков"/>
            </p:cNvPr>
            <p:cNvSpPr txBox="1"/>
            <p:nvPr userDrawn="1"/>
          </p:nvSpPr>
          <p:spPr>
            <a:xfrm flipH="1">
              <a:off x="3398079" y="3548402"/>
              <a:ext cx="1359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C# курс, програмиране, безплатно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524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9" name="TextBox 8">
            <a:hlinkClick r:id="rId2" tooltip="Форум за програмиране и уеб дизайн - дискусии, съвети, въпроси и отговори @ Софтуерна академия на Телерик"/>
          </p:cNvPr>
          <p:cNvSpPr txBox="1"/>
          <p:nvPr userDrawn="1"/>
        </p:nvSpPr>
        <p:spPr>
          <a:xfrm rot="12041701" flipH="1">
            <a:off x="7471619" y="3840481"/>
            <a:ext cx="890352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b="1" dirty="0" smtClean="0">
                <a:solidFill>
                  <a:schemeClr val="tx1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9600" b="1" dirty="0">
              <a:solidFill>
                <a:schemeClr val="tx1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1" name="TextBox 10">
            <a:hlinkClick r:id="rId4" tooltip="Програмиране за деца - безплатно в Телерик кидс академия"/>
          </p:cNvPr>
          <p:cNvSpPr txBox="1"/>
          <p:nvPr userDrawn="1"/>
        </p:nvSpPr>
        <p:spPr>
          <a:xfrm rot="9535351" flipH="1">
            <a:off x="923386" y="1861198"/>
            <a:ext cx="673363" cy="14465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OffAxis1Righ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8800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8800" dirty="0">
              <a:solidFill>
                <a:schemeClr val="accent5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extBox 11">
            <a:hlinkClick r:id="rId5" tooltip="Безплатен SEO курс - оптимизация за търсачки, уроци по SEO"/>
          </p:cNvPr>
          <p:cNvSpPr txBox="1"/>
          <p:nvPr userDrawn="1"/>
        </p:nvSpPr>
        <p:spPr>
          <a:xfrm rot="16938170" flipH="1">
            <a:off x="4905823" y="966542"/>
            <a:ext cx="859648" cy="19928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11500" b="1" dirty="0" smtClean="0">
                <a:solidFill>
                  <a:srgbClr val="FF831D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1500" b="1" dirty="0">
              <a:solidFill>
                <a:srgbClr val="FF831D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3" name="TextBox 12">
            <a:hlinkClick r:id="rId6" tooltip="Безплатен курс &quot;Уеб дизайн с HTML, CSS и JavaScript&quot; - уроци по правене на уеб сайтове, HTML, CSS, Photoshop, JavaScript и CMS системи"/>
          </p:cNvPr>
          <p:cNvSpPr txBox="1"/>
          <p:nvPr userDrawn="1"/>
        </p:nvSpPr>
        <p:spPr>
          <a:xfrm rot="19836951" flipH="1">
            <a:off x="7379010" y="1495154"/>
            <a:ext cx="949687" cy="20621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12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2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innerShdw blurRad="63500" dist="50800" dir="8100000">
                  <a:prstClr val="black">
                    <a:alpha val="50000"/>
                  </a:prstClr>
                </a:inn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4" name="TextBox 13">
            <a:hlinkClick r:id="rId7" tooltip="Училищна софтуерна академия - безплатни уроци по програмиране и уеб дизайн"/>
          </p:cNvPr>
          <p:cNvSpPr txBox="1"/>
          <p:nvPr userDrawn="1"/>
        </p:nvSpPr>
        <p:spPr>
          <a:xfrm rot="2233443" flipH="1">
            <a:off x="2139218" y="940065"/>
            <a:ext cx="445351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HeroicExtremeLeftFacing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5600" dirty="0" smtClean="0">
                <a:solidFill>
                  <a:schemeClr val="tx2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5600" dirty="0">
              <a:solidFill>
                <a:schemeClr val="tx2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5" name="TextBox 14">
            <a:hlinkClick r:id="rId8" tooltip="Безплатен курс &quot;Програмиране с ASP.NET MVC&quot; - уеб технологии, бази данни, C#, .NET, ASP.NET MVC"/>
          </p:cNvPr>
          <p:cNvSpPr txBox="1"/>
          <p:nvPr userDrawn="1"/>
        </p:nvSpPr>
        <p:spPr>
          <a:xfrm rot="8530737" flipH="1">
            <a:off x="4757100" y="4722613"/>
            <a:ext cx="643173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dirty="0" smtClean="0">
                <a:solidFill>
                  <a:srgbClr val="FF4A37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?</a:t>
            </a:r>
            <a:endParaRPr lang="en-US" sz="9600" dirty="0">
              <a:solidFill>
                <a:srgbClr val="FF4A37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16" name="TextBox 15">
            <a:hlinkClick r:id="rId9" tooltip="Безплатен курс &quot;Разработка на софтуер в Cloud среда&quot; - AppEngine, AWS, Azure"/>
          </p:cNvPr>
          <p:cNvSpPr txBox="1"/>
          <p:nvPr userDrawn="1"/>
        </p:nvSpPr>
        <p:spPr>
          <a:xfrm rot="12627025" flipH="1">
            <a:off x="2910497" y="4405707"/>
            <a:ext cx="386488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7" name="TextBox 16">
            <a:hlinkClick r:id="rId10" tooltip="BG Coder - онлайн състезателна система - тренировки за състезания по програмиране - online judge"/>
          </p:cNvPr>
          <p:cNvSpPr txBox="1"/>
          <p:nvPr userDrawn="1"/>
        </p:nvSpPr>
        <p:spPr>
          <a:xfrm rot="1186146" flipH="1">
            <a:off x="6185957" y="4125718"/>
            <a:ext cx="4993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</a:sp3d>
          </a:bodyPr>
          <a:lstStyle/>
          <a:p>
            <a:r>
              <a:rPr lang="en-US" sz="6600" dirty="0" smtClean="0">
                <a:solidFill>
                  <a:srgbClr val="9966FF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6600" dirty="0">
              <a:solidFill>
                <a:srgbClr val="9966FF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8" name="TextBox 17">
            <a:hlinkClick r:id="rId11" tooltip="Светлин Наков - курсове и уроци по програмиране, уеб дизайн, книги, обучения - безплатно"/>
          </p:cNvPr>
          <p:cNvSpPr txBox="1"/>
          <p:nvPr userDrawn="1"/>
        </p:nvSpPr>
        <p:spPr>
          <a:xfrm rot="19460650" flipH="1">
            <a:off x="3150206" y="1979501"/>
            <a:ext cx="489197" cy="769441"/>
          </a:xfrm>
          <a:prstGeom prst="rect">
            <a:avLst/>
          </a:prstGeom>
          <a:noFill/>
        </p:spPr>
        <p:txBody>
          <a:bodyPr wrap="square" rtlCol="0">
            <a:prstTxWarp prst="textInflate">
              <a:avLst/>
            </a:prstTxWarp>
            <a:spAutoFit/>
            <a:scene3d>
              <a:camera prst="perspectiveRelaxedModerately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solidFill>
                  <a:srgbClr val="FF6699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solidFill>
                <a:srgbClr val="FF6699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9" name="TextBox 18">
            <a:hlinkClick r:id="rId12" tooltip="Безплатен курс &quot;Качествен програмен код&quot;"/>
          </p:cNvPr>
          <p:cNvSpPr txBox="1"/>
          <p:nvPr userDrawn="1"/>
        </p:nvSpPr>
        <p:spPr>
          <a:xfrm rot="18277140" flipH="1">
            <a:off x="405234" y="3272336"/>
            <a:ext cx="41360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0" name="TextBox 19">
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</p:cNvPr>
          <p:cNvSpPr txBox="1"/>
          <p:nvPr userDrawn="1"/>
        </p:nvSpPr>
        <p:spPr>
          <a:xfrm rot="18695734" flipH="1">
            <a:off x="3127407" y="5396299"/>
            <a:ext cx="54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?</a:t>
            </a:r>
            <a:endParaRPr lang="en-US" sz="6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21" name="TextBox 20">
            <a:hlinkClick r:id="rId14" tooltip="Безплатен ASP.NET курс - уеб програмиране, бази данни, C#, .NET, ASP.NET"/>
          </p:cNvPr>
          <p:cNvSpPr txBox="1"/>
          <p:nvPr userDrawn="1"/>
        </p:nvSpPr>
        <p:spPr>
          <a:xfrm rot="10134629" flipH="1">
            <a:off x="6730680" y="5522529"/>
            <a:ext cx="44439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2" name="TextBox 21">
            <a:hlinkClick r:id="rId15" tooltip="Софтуерна академия на Телерик - безплатни курсове и уроци по програмиране"/>
          </p:cNvPr>
          <p:cNvSpPr txBox="1"/>
          <p:nvPr userDrawn="1"/>
        </p:nvSpPr>
        <p:spPr>
          <a:xfrm rot="12126217" flipH="1">
            <a:off x="559977" y="930479"/>
            <a:ext cx="387894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sz="4000" b="1" spc="150" dirty="0" smtClean="0">
                <a:ln w="1143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?</a:t>
            </a:r>
            <a:endParaRPr lang="en-US" sz="4000" b="1" spc="150" dirty="0">
              <a:ln w="1143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TextBox 22">
            <a:hlinkClick r:id="rId16" tooltip="Безплатен курс &quot;Разработка на мобилни приложения&quot; - iPhone, Android, Windows Phone, PhoneGap, HTML5, jQuery, AJAX"/>
          </p:cNvPr>
          <p:cNvSpPr txBox="1"/>
          <p:nvPr userDrawn="1"/>
        </p:nvSpPr>
        <p:spPr>
          <a:xfrm rot="20840689" flipH="1">
            <a:off x="8186733" y="5517701"/>
            <a:ext cx="357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 w="19050">
                  <a:solidFill>
                    <a:schemeClr val="accent4">
                      <a:lumMod val="75000"/>
                      <a:alpha val="5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20000"/>
                    <a:lumOff val="80000"/>
                    <a:alpha val="25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?</a:t>
            </a:r>
            <a:endParaRPr lang="en-US" sz="4000" b="1" dirty="0">
              <a:ln w="19050">
                <a:solidFill>
                  <a:schemeClr val="accent4">
                    <a:lumMod val="75000"/>
                    <a:alpha val="5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20000"/>
                  <a:lumOff val="80000"/>
                  <a:alpha val="25000"/>
                </a:schemeClr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4" name="TextBox 23">
            <a:hlinkClick r:id="rId17" tooltip="Free C# Programming Book by Svetlin Nakov - безплатна C# книга от Светлин Наков, книга C#, книга Java, безплатна книга"/>
          </p:cNvPr>
          <p:cNvSpPr txBox="1"/>
          <p:nvPr userDrawn="1"/>
        </p:nvSpPr>
        <p:spPr>
          <a:xfrm rot="15426793" flipH="1">
            <a:off x="1145826" y="4072253"/>
            <a:ext cx="369652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5" name="TextBox 24">
            <a:hlinkClick r:id="rId18" tooltip="Дончо Минков - сайт за програмиране"/>
          </p:cNvPr>
          <p:cNvSpPr txBox="1"/>
          <p:nvPr userDrawn="1"/>
        </p:nvSpPr>
        <p:spPr>
          <a:xfrm rot="11071760" flipH="1">
            <a:off x="6518175" y="1140358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dirty="0" smtClean="0">
                <a:ln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2800" dirty="0">
              <a:ln>
                <a:solidFill>
                  <a:schemeClr val="tx1">
                    <a:lumMod val="75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6" name="TextBox 25">
            <a:hlinkClick r:id="rId19" tooltip="Николай Костов - блог за програмиране"/>
          </p:cNvPr>
          <p:cNvSpPr txBox="1"/>
          <p:nvPr userDrawn="1"/>
        </p:nvSpPr>
        <p:spPr>
          <a:xfrm rot="300526" flipH="1">
            <a:off x="3902297" y="1278821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b="1" dirty="0" smtClean="0">
                <a:ln w="31550" cmpd="sng">
                  <a:solidFill>
                    <a:schemeClr val="tx2">
                      <a:lumMod val="20000"/>
                      <a:lumOff val="80000"/>
                    </a:schemeClr>
                  </a:solidFill>
                  <a:prstDash val="solid"/>
                </a:ln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?</a:t>
            </a:r>
            <a:endParaRPr lang="en-US" sz="2800" dirty="0">
              <a:ln w="31550" cmpd="sng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</a:ln>
              <a:solidFill>
                <a:schemeClr val="tx1">
                  <a:lumMod val="20000"/>
                  <a:lumOff val="8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7" name="TextBox 26">
            <a:hlinkClick r:id="rId20" tooltip="C# курс - програмиране, уроци, видео, лекции от Наков"/>
          </p:cNvPr>
          <p:cNvSpPr txBox="1"/>
          <p:nvPr userDrawn="1"/>
        </p:nvSpPr>
        <p:spPr>
          <a:xfrm rot="2086872" flipH="1">
            <a:off x="8330354" y="1359227"/>
            <a:ext cx="44439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200" dirty="0" smtClean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200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1828800" y="2903716"/>
            <a:ext cx="5486400" cy="1261884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7600" b="1" spc="150" noProof="0" dirty="0" smtClean="0">
                <a:ln w="11430"/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rPr>
              <a:t>Questions?</a:t>
            </a:r>
            <a:endParaRPr lang="en-US" sz="76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6807131" y="6400800"/>
            <a:ext cx="2218556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 smtClean="0"/>
              <a:t>Course web site URL</a:t>
            </a:r>
            <a:endParaRPr lang="en-US" dirty="0"/>
          </a:p>
        </p:txBody>
      </p:sp>
      <p:sp>
        <p:nvSpPr>
          <p:cNvPr id="10" name="TextBox 9">
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</p:cNvPr>
          <p:cNvSpPr txBox="1"/>
          <p:nvPr userDrawn="1"/>
        </p:nvSpPr>
        <p:spPr>
          <a:xfrm rot="2456848" flipH="1">
            <a:off x="968763" y="4970087"/>
            <a:ext cx="859648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>
              <a:lnSpc>
                <a:spcPct val="80000"/>
              </a:lnSpc>
            </a:pPr>
            <a:r>
              <a:rPr lang="en-US" sz="12000" b="1" dirty="0" smtClean="0">
                <a:solidFill>
                  <a:srgbClr val="FFBF8B"/>
                </a:solidFill>
                <a:effectLst>
                  <a:reflection blurRad="6350" stA="55000" endA="300" endPos="45500" dir="5400000" sy="-100000" algn="bl" rotWithShape="0"/>
                </a:effectLst>
                <a:latin typeface="Cambria" pitchFamily="18" charset="0"/>
              </a:rPr>
              <a:t>?</a:t>
            </a:r>
            <a:endParaRPr lang="en-US" sz="12000" b="1" dirty="0">
              <a:solidFill>
                <a:srgbClr val="FFBF8B"/>
              </a:solidFill>
              <a:effectLst>
                <a:reflection blurRad="6350" stA="55000" endA="300" endPos="45500" dir="5400000" sy="-100000" algn="bl" rotWithShape="0"/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00"/>
            <a:ext cx="9144000" cy="590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247650"/>
            <a:ext cx="9144000" cy="483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52400" y="228600"/>
            <a:ext cx="1714500" cy="428625"/>
          </a:xfrm>
          <a:prstGeom prst="rect">
            <a:avLst/>
          </a:prstGeom>
          <a:noFill/>
          <a:effectLst>
            <a:outerShdw blurRad="127000" sx="101000" sy="101000" algn="ctr" rotWithShape="0">
              <a:schemeClr val="tx1">
                <a:lumMod val="20000"/>
                <a:lumOff val="80000"/>
                <a:alpha val="7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688" r:id="rId2"/>
    <p:sldLayoutId id="2147483704" r:id="rId3"/>
    <p:sldLayoutId id="2147483689" r:id="rId4"/>
    <p:sldLayoutId id="2147483703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r" rtl="0" eaLnBrk="0" fontAlgn="base" hangingPunct="0">
        <a:lnSpc>
          <a:spcPts val="4400"/>
        </a:lnSpc>
        <a:spcBef>
          <a:spcPct val="0"/>
        </a:spcBef>
        <a:spcAft>
          <a:spcPct val="0"/>
        </a:spcAft>
        <a:defRPr sz="4400" b="1" kern="1200" baseline="0">
          <a:ln w="500">
            <a:noFill/>
          </a:ln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9pPr>
    </p:titleStyle>
    <p:bodyStyle>
      <a:lvl1pPr marL="319088" indent="-319088" algn="l" rtl="0" eaLnBrk="0" fontAlgn="base" hangingPunct="0">
        <a:spcBef>
          <a:spcPct val="20000"/>
        </a:spcBef>
        <a:spcAft>
          <a:spcPct val="0"/>
        </a:spcAft>
        <a:buClr>
          <a:schemeClr val="accent5">
            <a:lumMod val="40000"/>
            <a:lumOff val="60000"/>
          </a:schemeClr>
        </a:buClr>
        <a:buSzPct val="70000"/>
        <a:buFont typeface="Wingdings 2" pitchFamily="18" charset="2"/>
        <a:buChar char=""/>
        <a:defRPr sz="32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30238" indent="-273050" algn="l" rtl="0" eaLnBrk="0" fontAlgn="base" hangingPunct="0">
        <a:spcBef>
          <a:spcPct val="20000"/>
        </a:spcBef>
        <a:spcAft>
          <a:spcPct val="0"/>
        </a:spcAft>
        <a:buClr>
          <a:schemeClr val="accent2">
            <a:lumMod val="60000"/>
            <a:lumOff val="40000"/>
          </a:schemeClr>
        </a:buClr>
        <a:buFont typeface="Wingdings 2" pitchFamily="18" charset="2"/>
        <a:buChar char=""/>
        <a:defRPr sz="30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922338" indent="-273050" algn="l" rtl="0" eaLnBrk="0" fontAlgn="base" hangingPunct="0">
        <a:spcBef>
          <a:spcPct val="20000"/>
        </a:spcBef>
        <a:spcAft>
          <a:spcPct val="0"/>
        </a:spcAft>
        <a:buClr>
          <a:schemeClr val="tx1">
            <a:lumMod val="50000"/>
          </a:schemeClr>
        </a:buClr>
        <a:buFont typeface="Wingdings 2" pitchFamily="18" charset="2"/>
        <a:buChar char=""/>
        <a:defRPr sz="28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187450" indent="-228600" algn="l" rtl="0" eaLnBrk="0" fontAlgn="base" hangingPunct="0">
        <a:spcBef>
          <a:spcPct val="20000"/>
        </a:spcBef>
        <a:spcAft>
          <a:spcPct val="0"/>
        </a:spcAft>
        <a:buClr>
          <a:srgbClr val="F8BD52"/>
        </a:buClr>
        <a:buFont typeface="Wingdings 2" pitchFamily="18" charset="2"/>
        <a:buChar char=""/>
        <a:defRPr sz="26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425575" indent="-228600" algn="l" rtl="0" eaLnBrk="0" fontAlgn="base" hangingPunct="0">
        <a:spcBef>
          <a:spcPct val="20000"/>
        </a:spcBef>
        <a:spcAft>
          <a:spcPct val="0"/>
        </a:spcAft>
        <a:buClr>
          <a:srgbClr val="46A6BD"/>
        </a:buClr>
        <a:buFont typeface="Wingdings 2" pitchFamily="18" charset="2"/>
        <a:buChar char=""/>
        <a:defRPr sz="24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673352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eaLnBrk="1" latinLnBrk="0" hangingPunct="1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http://nikolay.it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academy.telerik.com/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schoolacademy.telerik.com/" TargetMode="Externa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://facebook.com/TelerikAcademy" TargetMode="External"/><Relationship Id="rId3" Type="http://schemas.openxmlformats.org/officeDocument/2006/relationships/hyperlink" Target="http://academy.telerik.com/" TargetMode="External"/><Relationship Id="rId7" Type="http://schemas.openxmlformats.org/officeDocument/2006/relationships/image" Target="../media/image22.png"/><Relationship Id="rId2" Type="http://schemas.openxmlformats.org/officeDocument/2006/relationships/hyperlink" Target="http://csharpfundamentals.telerik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://forums.academy.telerik.com/" TargetMode="External"/><Relationship Id="rId10" Type="http://schemas.openxmlformats.org/officeDocument/2006/relationships/image" Target="../media/image24.png"/><Relationship Id="rId4" Type="http://schemas.openxmlformats.org/officeDocument/2006/relationships/hyperlink" Target="http://www.facebook.com/telerikacademy" TargetMode="External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362200"/>
            <a:ext cx="8229600" cy="1524000"/>
          </a:xfrm>
        </p:spPr>
        <p:txBody>
          <a:bodyPr/>
          <a:lstStyle/>
          <a:p>
            <a:r>
              <a:rPr lang="en-US" dirty="0" smtClean="0"/>
              <a:t>ASP.NET MVC</a:t>
            </a:r>
            <a:br>
              <a:rPr lang="en-US" dirty="0" smtClean="0"/>
            </a:br>
            <a:r>
              <a:rPr lang="en-US" dirty="0" smtClean="0"/>
              <a:t>Working </a:t>
            </a:r>
            <a:r>
              <a:rPr lang="en-US" dirty="0"/>
              <a:t>with Data</a:t>
            </a:r>
          </a:p>
        </p:txBody>
      </p:sp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72137" y="4572000"/>
            <a:ext cx="1816101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 descr="http://cloudtimes.org/wp-content/uploads/2011/02/big-data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2700" y="4572000"/>
            <a:ext cx="2641600" cy="19812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1" y="999344"/>
            <a:ext cx="3886200" cy="2623647"/>
          </a:xfrm>
          <a:prstGeom prst="rect">
            <a:avLst/>
          </a:prstGeom>
        </p:spPr>
      </p:pic>
      <p:sp>
        <p:nvSpPr>
          <p:cNvPr id="14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19099" y="4495800"/>
            <a:ext cx="3853295" cy="533400"/>
          </a:xfrm>
        </p:spPr>
        <p:txBody>
          <a:bodyPr/>
          <a:lstStyle/>
          <a:p>
            <a:r>
              <a:rPr lang="en-US" dirty="0" smtClean="0"/>
              <a:t>Nikolay </a:t>
            </a:r>
            <a:r>
              <a:rPr lang="en-US" noProof="1" smtClean="0"/>
              <a:t>Kostov</a:t>
            </a:r>
            <a:endParaRPr lang="en-US" noProof="1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457200" y="5955268"/>
            <a:ext cx="3810000" cy="369332"/>
          </a:xfrm>
        </p:spPr>
        <p:txBody>
          <a:bodyPr/>
          <a:lstStyle/>
          <a:p>
            <a:r>
              <a:rPr lang="en-US" dirty="0" smtClean="0"/>
              <a:t>Telerik Software Academy</a:t>
            </a:r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6214646"/>
            <a:ext cx="3810000" cy="338554"/>
          </a:xfrm>
        </p:spPr>
        <p:txBody>
          <a:bodyPr/>
          <a:lstStyle/>
          <a:p>
            <a:r>
              <a:rPr lang="en-US" dirty="0" smtClean="0">
                <a:hlinkClick r:id="rId6"/>
              </a:rPr>
              <a:t>academy.telerik.com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31800" y="4914781"/>
            <a:ext cx="3555998" cy="800219"/>
          </a:xfrm>
        </p:spPr>
        <p:txBody>
          <a:bodyPr/>
          <a:lstStyle/>
          <a:p>
            <a:pPr marL="0" indent="0"/>
            <a:r>
              <a:rPr lang="en-US" dirty="0" smtClean="0"/>
              <a:t>Team Lead, Senior</a:t>
            </a:r>
            <a:br>
              <a:rPr lang="en-US" dirty="0" smtClean="0"/>
            </a:br>
            <a:r>
              <a:rPr lang="en-US" dirty="0" smtClean="0"/>
              <a:t>Developer and Trainer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457200" y="5650468"/>
            <a:ext cx="3810000" cy="369332"/>
          </a:xfrm>
        </p:spPr>
        <p:txBody>
          <a:bodyPr/>
          <a:lstStyle/>
          <a:p>
            <a:r>
              <a:rPr lang="en-US" sz="1800" dirty="0" smtClean="0">
                <a:hlinkClick r:id="rId7"/>
              </a:rPr>
              <a:t>http://Nikolay.IT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7179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of Contents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Scaffolding</a:t>
            </a:r>
          </a:p>
          <a:p>
            <a:r>
              <a:rPr lang="en-US" dirty="0"/>
              <a:t>Model Binders</a:t>
            </a:r>
          </a:p>
          <a:p>
            <a:r>
              <a:rPr lang="en-US" dirty="0" smtClean="0"/>
              <a:t>Data </a:t>
            </a:r>
            <a:r>
              <a:rPr lang="en-US" dirty="0" smtClean="0"/>
              <a:t>Validation</a:t>
            </a:r>
          </a:p>
          <a:p>
            <a:r>
              <a:rPr lang="en-US" dirty="0" smtClean="0"/>
              <a:t>Session</a:t>
            </a:r>
            <a:r>
              <a:rPr lang="en-US" dirty="0"/>
              <a:t>[], </a:t>
            </a:r>
            <a:r>
              <a:rPr lang="en-US" dirty="0" err="1"/>
              <a:t>TempData</a:t>
            </a:r>
            <a:r>
              <a:rPr lang="en-US" dirty="0"/>
              <a:t>[], Cache</a:t>
            </a:r>
            <a:r>
              <a:rPr lang="en-US" dirty="0" smtClean="0"/>
              <a:t>[]</a:t>
            </a:r>
          </a:p>
          <a:p>
            <a:r>
              <a:rPr lang="en-US" dirty="0"/>
              <a:t>Working with real data</a:t>
            </a:r>
          </a:p>
          <a:p>
            <a:pPr lvl="1"/>
            <a:r>
              <a:rPr lang="en-US" dirty="0"/>
              <a:t>Repository Pattern</a:t>
            </a:r>
          </a:p>
          <a:p>
            <a:pPr lvl="1"/>
            <a:r>
              <a:rPr lang="en-US" dirty="0"/>
              <a:t>Unit of Work </a:t>
            </a:r>
            <a:r>
              <a:rPr lang="en-US" dirty="0" smtClean="0"/>
              <a:t>Pattern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5" name="Picture 5" descr="C:\Users\nkostov\Desktop\Untitl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502284">
            <a:off x="4858648" y="3166840"/>
            <a:ext cx="4223956" cy="351996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8800" y="838200"/>
            <a:ext cx="2373342" cy="2332838"/>
          </a:xfrm>
          <a:prstGeom prst="rect">
            <a:avLst/>
          </a:prstGeom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1442871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85900" y="609600"/>
            <a:ext cx="6172200" cy="1006707"/>
          </a:xfrm>
        </p:spPr>
        <p:txBody>
          <a:bodyPr/>
          <a:lstStyle/>
          <a:p>
            <a:pPr indent="-838200">
              <a:lnSpc>
                <a:spcPct val="110000"/>
              </a:lnSpc>
            </a:pPr>
            <a:r>
              <a:rPr lang="en-US" dirty="0" smtClean="0"/>
              <a:t>Scaffolding</a:t>
            </a:r>
            <a:endParaRPr lang="bg-BG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752600"/>
            <a:ext cx="6858000" cy="4572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89754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</a:t>
            </a:r>
            <a:r>
              <a:rPr lang="en-US" dirty="0"/>
              <a:t>is ASP.NET Scaffolding?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 smtClean="0"/>
              <a:t>Code </a:t>
            </a:r>
            <a:r>
              <a:rPr lang="en-US" dirty="0"/>
              <a:t>generation framework for </a:t>
            </a:r>
            <a:r>
              <a:rPr lang="en-US" dirty="0" smtClean="0"/>
              <a:t>ASP.NET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en-US" dirty="0" smtClean="0"/>
              <a:t>When </a:t>
            </a:r>
            <a:r>
              <a:rPr lang="en-US" dirty="0"/>
              <a:t>you want to quickly add boilerplate code that interacts with data </a:t>
            </a:r>
            <a:r>
              <a:rPr lang="en-US" dirty="0" smtClean="0"/>
              <a:t>models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/>
              <a:t>Developer productivity enhancer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en-US" dirty="0" smtClean="0"/>
              <a:t>Can </a:t>
            </a:r>
            <a:r>
              <a:rPr lang="en-US" dirty="0"/>
              <a:t>reduce the amount of time to develop standard data operations in your </a:t>
            </a:r>
            <a:r>
              <a:rPr lang="en-US" dirty="0" smtClean="0"/>
              <a:t>project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/>
              <a:t>Enables </a:t>
            </a:r>
            <a:r>
              <a:rPr lang="en-US" dirty="0" smtClean="0"/>
              <a:t>customization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en-US" dirty="0" smtClean="0"/>
              <a:t>Provides </a:t>
            </a:r>
            <a:r>
              <a:rPr lang="en-US" dirty="0"/>
              <a:t>an extensibility mechanism to customize generated code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 smtClean="0"/>
              <a:t>VS 2013 </a:t>
            </a:r>
            <a:r>
              <a:rPr lang="en-US" dirty="0" smtClean="0"/>
              <a:t>RC </a:t>
            </a:r>
            <a:r>
              <a:rPr lang="en-US" dirty="0"/>
              <a:t>includes pre-installed code generators for MVC, </a:t>
            </a:r>
            <a:r>
              <a:rPr lang="en-US" dirty="0" smtClean="0"/>
              <a:t>and </a:t>
            </a:r>
            <a:r>
              <a:rPr lang="en-US" dirty="0"/>
              <a:t>Web </a:t>
            </a:r>
            <a:r>
              <a:rPr lang="en-US" dirty="0" smtClean="0"/>
              <a:t>API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479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4724400"/>
            <a:ext cx="7924800" cy="685800"/>
          </a:xfrm>
        </p:spPr>
        <p:txBody>
          <a:bodyPr/>
          <a:lstStyle/>
          <a:p>
            <a:r>
              <a:rPr lang="en-US" dirty="0" smtClean="0"/>
              <a:t>Demo: Create Scaffold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883843" y="5486400"/>
            <a:ext cx="7376311" cy="873920"/>
          </a:xfrm>
        </p:spPr>
        <p:txBody>
          <a:bodyPr/>
          <a:lstStyle/>
          <a:p>
            <a:r>
              <a:rPr lang="en-US" dirty="0" smtClean="0"/>
              <a:t>Create Web Forms pages with read/write actions, using Entity Framework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900229"/>
            <a:ext cx="5334000" cy="37426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2436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85900" y="914400"/>
            <a:ext cx="6172200" cy="1006707"/>
          </a:xfrm>
        </p:spPr>
        <p:txBody>
          <a:bodyPr/>
          <a:lstStyle/>
          <a:p>
            <a:pPr indent="-838200">
              <a:lnSpc>
                <a:spcPct val="110000"/>
              </a:lnSpc>
            </a:pPr>
            <a:r>
              <a:rPr lang="en-US" dirty="0" smtClean="0"/>
              <a:t>Model Binders</a:t>
            </a:r>
            <a:endParaRPr lang="bg-BG" dirty="0"/>
          </a:p>
        </p:txBody>
      </p:sp>
      <p:sp>
        <p:nvSpPr>
          <p:cNvPr id="501763" name="Rectangle 3"/>
          <p:cNvSpPr>
            <a:spLocks noChangeArrowheads="1"/>
          </p:cNvSpPr>
          <p:nvPr/>
        </p:nvSpPr>
        <p:spPr bwMode="auto">
          <a:xfrm>
            <a:off x="1187450" y="3463925"/>
            <a:ext cx="6480175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algn="ctr">
              <a:lnSpc>
                <a:spcPct val="110000"/>
              </a:lnSpc>
            </a:pPr>
            <a:endParaRPr lang="bg-BG" sz="2800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pic>
        <p:nvPicPr>
          <p:cNvPr id="4" name="Picture 2" descr="http://www.cs.cmu.edu/~chaki/magic/magic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524000"/>
            <a:ext cx="4594401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40897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Binders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make east of handling HTTP post request</a:t>
            </a:r>
          </a:p>
          <a:p>
            <a:r>
              <a:rPr lang="en-US" dirty="0" smtClean="0"/>
              <a:t>Help the populating the parameters in action methods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984633"/>
            <a:ext cx="2142000" cy="1498333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2971800" y="2984633"/>
            <a:ext cx="3429000" cy="149833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HTTP POST /Review/Create</a:t>
            </a:r>
          </a:p>
          <a:p>
            <a:pPr algn="ctr"/>
            <a:r>
              <a:rPr lang="en-US" sz="1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Rating=7&amp;Body=Great!</a:t>
            </a:r>
          </a:p>
        </p:txBody>
      </p:sp>
      <p:pic>
        <p:nvPicPr>
          <p:cNvPr id="2050" name="Picture 2" descr="http://www.cs.cmu.edu/~chaki/magic/magic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749" y="2743198"/>
            <a:ext cx="1958270" cy="1981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5924735" y="2266146"/>
            <a:ext cx="306686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DefaultModelBinder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 rot="7731029">
            <a:off x="6274970" y="4487555"/>
            <a:ext cx="692059" cy="537058"/>
          </a:xfrm>
          <a:prstGeom prst="rightArrow">
            <a:avLst>
              <a:gd name="adj1" fmla="val 50000"/>
              <a:gd name="adj2" fmla="val 5155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307" y="5054256"/>
            <a:ext cx="5638800" cy="132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351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 Model Binder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066800"/>
            <a:ext cx="8239125" cy="41338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5029200"/>
            <a:ext cx="8124825" cy="12477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3879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85900" y="1126893"/>
            <a:ext cx="6172200" cy="1006707"/>
          </a:xfrm>
        </p:spPr>
        <p:txBody>
          <a:bodyPr/>
          <a:lstStyle/>
          <a:p>
            <a:pPr indent="-838200">
              <a:lnSpc>
                <a:spcPct val="110000"/>
              </a:lnSpc>
            </a:pPr>
            <a:r>
              <a:rPr lang="en-US" dirty="0" smtClean="0"/>
              <a:t>Data Validation</a:t>
            </a:r>
            <a:endParaRPr lang="bg-BG" dirty="0"/>
          </a:p>
        </p:txBody>
      </p:sp>
      <p:sp>
        <p:nvSpPr>
          <p:cNvPr id="501763" name="Rectangle 3"/>
          <p:cNvSpPr>
            <a:spLocks noChangeArrowheads="1"/>
          </p:cNvSpPr>
          <p:nvPr/>
        </p:nvSpPr>
        <p:spPr bwMode="auto">
          <a:xfrm>
            <a:off x="1187450" y="3463925"/>
            <a:ext cx="6480175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algn="ctr">
              <a:lnSpc>
                <a:spcPct val="110000"/>
              </a:lnSpc>
            </a:pPr>
            <a:endParaRPr lang="bg-BG" sz="2800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pic>
        <p:nvPicPr>
          <p:cNvPr id="3074" name="Picture 2" descr="http://www.theorem.co.uk/images/validateandcheck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2514600"/>
            <a:ext cx="5257800" cy="333375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66354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with Annotations </a:t>
            </a: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Attributes </a:t>
            </a:r>
            <a:r>
              <a:rPr lang="en-US" dirty="0"/>
              <a:t>defined in </a:t>
            </a: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System.ComponentModel.DataAnnotations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Covers </a:t>
            </a:r>
            <a:r>
              <a:rPr lang="en-US" dirty="0"/>
              <a:t>common validation </a:t>
            </a:r>
            <a:r>
              <a:rPr lang="en-US" dirty="0" smtClean="0"/>
              <a:t>patterns</a:t>
            </a:r>
          </a:p>
          <a:p>
            <a:pPr lvl="1"/>
            <a:r>
              <a:rPr lang="en-US" dirty="0"/>
              <a:t>Required</a:t>
            </a:r>
          </a:p>
          <a:p>
            <a:pPr lvl="1"/>
            <a:r>
              <a:rPr lang="en-US" dirty="0" err="1"/>
              <a:t>StringLength</a:t>
            </a:r>
            <a:endParaRPr lang="en-US" dirty="0"/>
          </a:p>
          <a:p>
            <a:pPr lvl="1"/>
            <a:r>
              <a:rPr lang="en-US" dirty="0"/>
              <a:t>Regex</a:t>
            </a:r>
          </a:p>
          <a:p>
            <a:pPr lvl="1"/>
            <a:r>
              <a:rPr lang="en-US" dirty="0"/>
              <a:t>Range</a:t>
            </a:r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2971800"/>
            <a:ext cx="4800600" cy="261366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34834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smtClean="0"/>
              <a:t>Validation </a:t>
            </a:r>
            <a:r>
              <a:rPr lang="en-US" dirty="0"/>
              <a:t>A</a:t>
            </a:r>
            <a:r>
              <a:rPr lang="en-US" dirty="0" smtClean="0"/>
              <a:t>ttributes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661958"/>
              </p:ext>
            </p:extLst>
          </p:nvPr>
        </p:nvGraphicFramePr>
        <p:xfrm>
          <a:off x="609600" y="1214120"/>
          <a:ext cx="7924800" cy="495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81200"/>
                <a:gridCol w="5943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Attribute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Compare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Checks whether two specified properties in the model have the same value.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CustomValidation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Checks the value against the specified custom function.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EnumDataType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Checks whether the value can be matched to any of the values in the specified enumerated type.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Range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Checks whether the value falls in the specified range. It defaults to numbers, but it can be configured to consider a range of dates, too.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RegularExpression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Checks whether the value matches the specified expression.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Remote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Makes an Ajax call to the server, and checks whether the value is acceptable.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Required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Checks whether a non-null value is assigned to the property. It can be configured to fail if an empty string is assigned.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StringLength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Checks whether the string is longer than the specified value.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3949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Custom attributes</a:t>
            </a:r>
          </a:p>
          <a:p>
            <a:r>
              <a:rPr lang="en-US" dirty="0" smtClean="0"/>
              <a:t>Inherit </a:t>
            </a:r>
            <a:r>
              <a:rPr lang="en-US" dirty="0" err="1" smtClean="0"/>
              <a:t>ValidationAttribute</a:t>
            </a:r>
            <a:endParaRPr lang="en-US" dirty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62200"/>
            <a:ext cx="7772400" cy="39218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7052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Validating Model – Controller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ModelState.IsValid</a:t>
            </a:r>
            <a:r>
              <a:rPr lang="en-US" dirty="0" smtClean="0"/>
              <a:t> – will give us information about the data validation success</a:t>
            </a:r>
          </a:p>
          <a:p>
            <a:r>
              <a:rPr lang="en-US" dirty="0" err="1" smtClean="0"/>
              <a:t>ModelState.AddModelError</a:t>
            </a:r>
            <a:r>
              <a:rPr lang="en-US" dirty="0" smtClean="0"/>
              <a:t> – custom error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2781300"/>
            <a:ext cx="6743700" cy="37719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158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Validating Model –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@</a:t>
            </a:r>
            <a:r>
              <a:rPr lang="en-US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Html.ValidationSummary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 smtClean="0"/>
              <a:t>– output errors</a:t>
            </a:r>
          </a:p>
          <a:p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@</a:t>
            </a:r>
            <a:r>
              <a:rPr lang="en-US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Html.ValidationMessageFor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(…)</a:t>
            </a:r>
            <a:r>
              <a:rPr lang="en-US" dirty="0" smtClean="0"/>
              <a:t> – outputs validation message for specified property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768" y="2971800"/>
            <a:ext cx="5440463" cy="33909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Left Arrow 5"/>
          <p:cNvSpPr/>
          <p:nvPr/>
        </p:nvSpPr>
        <p:spPr>
          <a:xfrm rot="20594177">
            <a:off x="5802382" y="4248442"/>
            <a:ext cx="1372499" cy="129260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570753" y="4038600"/>
            <a:ext cx="2420847" cy="5847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Text box with integrated client-side validation</a:t>
            </a:r>
          </a:p>
        </p:txBody>
      </p:sp>
      <p:sp>
        <p:nvSpPr>
          <p:cNvPr id="8" name="Left Arrow 7"/>
          <p:cNvSpPr/>
          <p:nvPr/>
        </p:nvSpPr>
        <p:spPr>
          <a:xfrm rot="20594177">
            <a:off x="5408913" y="5567285"/>
            <a:ext cx="1372499" cy="129260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177284" y="5357443"/>
            <a:ext cx="2420847" cy="83099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 smtClean="0">
                <a:solidFill>
                  <a:schemeClr val="bg1"/>
                </a:solidFill>
              </a:rPr>
              <a:t>jQuery</a:t>
            </a:r>
            <a:r>
              <a:rPr lang="en-US" sz="1600" b="1" dirty="0" smtClean="0">
                <a:solidFill>
                  <a:schemeClr val="bg1"/>
                </a:solidFill>
              </a:rPr>
              <a:t> validation library required for unobtrusive JavaScript validation</a:t>
            </a:r>
          </a:p>
        </p:txBody>
      </p:sp>
    </p:spTree>
    <p:extLst>
      <p:ext uri="{BB962C8B-B14F-4D97-AF65-F5344CB8AC3E}">
        <p14:creationId xmlns:p14="http://schemas.microsoft.com/office/powerpoint/2010/main" val="748364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 / Edit Annotations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854611"/>
              </p:ext>
            </p:extLst>
          </p:nvPr>
        </p:nvGraphicFramePr>
        <p:xfrm>
          <a:off x="1219200" y="1600200"/>
          <a:ext cx="6705600" cy="4145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28800"/>
                <a:gridCol w="4876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Attribute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DisplayColumn</a:t>
                      </a:r>
                      <a:endParaRPr lang="en-US" sz="1800" b="0" i="1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Specify the property of a model class for simple text display. 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HiddenInput</a:t>
                      </a:r>
                      <a:endParaRPr lang="en-US" sz="1800" b="0" i="1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Render value in a hidden input (when editing).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UIHint</a:t>
                      </a:r>
                      <a:endParaRPr lang="en-US" sz="1800" b="0" i="1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Specify the name of the template to use for rendering.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DataType</a:t>
                      </a:r>
                      <a:endParaRPr lang="en-US" sz="1800" b="0" i="1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Common templates (email, password, URL, currency)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ReadOnly</a:t>
                      </a:r>
                      <a:endParaRPr lang="en-US" sz="1800" b="0" i="1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Specify a read-only property (for model binding).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DisplayFormat</a:t>
                      </a:r>
                      <a:endParaRPr lang="en-US" sz="1800" b="0" i="1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Format strings and null display text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ScaffoldColumn</a:t>
                      </a:r>
                      <a:endParaRPr lang="en-US" sz="1800" b="0" i="1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Turn off display and edit capabilities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DisplayName</a:t>
                      </a:r>
                      <a:endParaRPr lang="en-US" sz="1800" b="0" i="1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Friendly name for labels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779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Session[], </a:t>
            </a:r>
            <a:r>
              <a:rPr lang="en-US" dirty="0" err="1"/>
              <a:t>TempData</a:t>
            </a:r>
            <a:r>
              <a:rPr lang="en-US" dirty="0"/>
              <a:t>[], Cache[]</a:t>
            </a:r>
            <a:br>
              <a:rPr lang="en-US" dirty="0"/>
            </a:b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81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214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Working with Real Data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31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337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228600"/>
            <a:ext cx="7086600" cy="838200"/>
          </a:xfrm>
        </p:spPr>
        <p:txBody>
          <a:bodyPr/>
          <a:lstStyle/>
          <a:p>
            <a:r>
              <a:rPr lang="en-US" dirty="0"/>
              <a:t>ASP.NET </a:t>
            </a:r>
            <a:r>
              <a:rPr lang="en-US" dirty="0" smtClean="0"/>
              <a:t>MVC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Working with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473176" y="6400800"/>
            <a:ext cx="3552511" cy="369332"/>
          </a:xfrm>
        </p:spPr>
        <p:txBody>
          <a:bodyPr/>
          <a:lstStyle/>
          <a:p>
            <a:r>
              <a:rPr lang="en-US" dirty="0">
                <a:hlinkClick r:id="rId2"/>
              </a:rPr>
              <a:t>http</a:t>
            </a:r>
            <a:r>
              <a:rPr lang="en-US" dirty="0" smtClean="0">
                <a:hlinkClick r:id="rId2"/>
              </a:rPr>
              <a:t>://schoolacademy.telerik.com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162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Homework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740118"/>
            <a:ext cx="8686800" cy="5965482"/>
          </a:xfrm>
        </p:spPr>
        <p:txBody>
          <a:bodyPr/>
          <a:lstStyle/>
          <a:p>
            <a:pPr marL="514350" indent="-51435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 smtClean="0"/>
              <a:t>Create a simple ASP.NET MVC Twitter-like system using data validation, Entity Framework, repository pattern and unit of work pattern. Your system should:</a:t>
            </a:r>
          </a:p>
          <a:p>
            <a:pPr marL="862013" lvl="1" indent="-514350"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Have users and administrators</a:t>
            </a:r>
          </a:p>
          <a:p>
            <a:pPr marL="862013" lvl="1" indent="-514350"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List all tweets for specific user in his profile</a:t>
            </a:r>
          </a:p>
          <a:p>
            <a:pPr marL="862013" lvl="1" indent="-514350"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List all tweets containing specific tag (#fail) and use 15 minutes caching for each tag</a:t>
            </a:r>
          </a:p>
          <a:p>
            <a:pPr marL="862013" lvl="1" indent="-514350"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Have administration for the tweets using ASP.NET scaffolding (admins only)</a:t>
            </a:r>
          </a:p>
          <a:p>
            <a:pPr marL="862013" lvl="1" indent="-514350"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* Have Kendo UI Grid-based administration for tweets (with paging, sorting, filtering, </a:t>
            </a:r>
            <a:r>
              <a:rPr lang="en-US" dirty="0" err="1" smtClean="0"/>
              <a:t>etv</a:t>
            </a:r>
            <a:r>
              <a:rPr lang="en-US" dirty="0" smtClean="0"/>
              <a:t>.)</a:t>
            </a:r>
            <a:endParaRPr lang="en-US" dirty="0" smtClean="0"/>
          </a:p>
          <a:p>
            <a:pPr marL="862013" lvl="1" indent="-51435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562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Free Trainings @ Telerik Academy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638800"/>
          </a:xfrm>
        </p:spPr>
        <p:txBody>
          <a:bodyPr/>
          <a:lstStyle/>
          <a:p>
            <a:r>
              <a:rPr lang="en-US" dirty="0" smtClean="0"/>
              <a:t>“C# Programming @ Telerik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>
                <a:hlinkClick r:id="rId2"/>
              </a:rPr>
              <a:t>csharpfundamentals.telerik.com</a:t>
            </a:r>
            <a:endParaRPr lang="en-US" noProof="1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3" tooltip="Telerik Software Academy - Free Programming Courses"/>
              </a:rPr>
              <a:t>academy.telerik.com</a:t>
            </a:r>
            <a:endParaRPr lang="en-US" noProof="1" smtClean="0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Academy @ Facebook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4" tooltip="Telerik Softyware Academy @ Facebook"/>
              </a:rPr>
              <a:t>facebook.com/TelerikAcademy</a:t>
            </a:r>
            <a:endParaRPr lang="en-US" noProof="1" smtClean="0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 Forums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5" tooltip="Telerik Software Academy Forums - Community for Programmers"/>
              </a:rPr>
              <a:t>forums.academy.telerik.com</a:t>
            </a:r>
            <a:endParaRPr lang="en-US" noProof="1"/>
          </a:p>
        </p:txBody>
      </p:sp>
      <p:pic>
        <p:nvPicPr>
          <p:cNvPr id="5" name="Picture 5">
            <a:hlinkClick r:id="rId5" tooltip="Telerik Software Academy Forums - Discussion Board for Developers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898" y="5218092"/>
            <a:ext cx="1162902" cy="1268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>
            <a:hlinkClick r:id="rId3" tooltip="Telerik Software Academy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941" y="2667000"/>
            <a:ext cx="3137859" cy="918234"/>
          </a:xfrm>
          <a:prstGeom prst="rect">
            <a:avLst/>
          </a:prstGeom>
          <a:noFill/>
          <a:ln>
            <a:solidFill>
              <a:srgbClr val="9BCC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>
            <a:hlinkClick r:id="rId8" tooltip="Telerik Academy @ Facebook"/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587" y="4003901"/>
            <a:ext cx="938213" cy="9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>
            <a:hlinkClick r:id="rId2"/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025" y="1123558"/>
            <a:ext cx="1124775" cy="112477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5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1dbb5ef1eec16f96b550c792a3c169f6d68"/>
</p:tagLst>
</file>

<file path=ppt/theme/theme1.xml><?xml version="1.0" encoding="utf-8"?>
<a:theme xmlns:a="http://schemas.openxmlformats.org/drawingml/2006/main" name="Telerik Academy">
  <a:themeElements>
    <a:clrScheme name="Telerik Colors Theme">
      <a:dk1>
        <a:sysClr val="windowText" lastClr="000000"/>
      </a:dk1>
      <a:lt1>
        <a:srgbClr val="CCFF66"/>
      </a:lt1>
      <a:dk2>
        <a:srgbClr val="30356E"/>
      </a:dk2>
      <a:lt2>
        <a:srgbClr val="CCFF33"/>
      </a:lt2>
      <a:accent1>
        <a:srgbClr val="CC4757"/>
      </a:accent1>
      <a:accent2>
        <a:srgbClr val="FF6F61"/>
      </a:accent2>
      <a:accent3>
        <a:srgbClr val="FF953E"/>
      </a:accent3>
      <a:accent4>
        <a:srgbClr val="F8BD52"/>
      </a:accent4>
      <a:accent5>
        <a:srgbClr val="46A6BD"/>
      </a:accent5>
      <a:accent6>
        <a:srgbClr val="5488BC"/>
      </a:accent6>
      <a:hlink>
        <a:srgbClr val="76B200"/>
      </a:hlink>
      <a:folHlink>
        <a:srgbClr val="FFCF3E"/>
      </a:folHlink>
    </a:clrScheme>
    <a:fontScheme name="Deluxe">
      <a:maj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90500" h="1016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3000"/>
                <a:satMod val="1550000"/>
              </a:schemeClr>
            </a:gs>
            <a:gs pos="1000">
              <a:schemeClr val="phClr">
                <a:tint val="48000"/>
                <a:satMod val="155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r="210000" b="300000"/>
          </a:path>
        </a:gradFill>
        <a:gradFill rotWithShape="1">
          <a:gsLst>
            <a:gs pos="5000">
              <a:schemeClr val="phClr">
                <a:tint val="38000"/>
                <a:satMod val="18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20000" t="30000" r="135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Deluxe</Template>
  <TotalTime>12385</TotalTime>
  <Words>680</Words>
  <Application>Microsoft Office PowerPoint</Application>
  <PresentationFormat>On-screen Show (4:3)</PresentationFormat>
  <Paragraphs>137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Calibri</vt:lpstr>
      <vt:lpstr>Cambria</vt:lpstr>
      <vt:lpstr>Consolas</vt:lpstr>
      <vt:lpstr>Corbel</vt:lpstr>
      <vt:lpstr>Wingdings 2</vt:lpstr>
      <vt:lpstr>Telerik Academy</vt:lpstr>
      <vt:lpstr>ASP.NET MVC Working with Data</vt:lpstr>
      <vt:lpstr>Table of Contents</vt:lpstr>
      <vt:lpstr>Scaffolding</vt:lpstr>
      <vt:lpstr>What is ASP.NET Scaffolding?</vt:lpstr>
      <vt:lpstr>Demo: Create Scaffold</vt:lpstr>
      <vt:lpstr>Model Binders</vt:lpstr>
      <vt:lpstr>Model Binders</vt:lpstr>
      <vt:lpstr>Custom Model Binder</vt:lpstr>
      <vt:lpstr>Data Validation</vt:lpstr>
      <vt:lpstr>Validation with Annotations </vt:lpstr>
      <vt:lpstr>Data Validation Attributes</vt:lpstr>
      <vt:lpstr>Custom Validation</vt:lpstr>
      <vt:lpstr>Validating Model – Controller</vt:lpstr>
      <vt:lpstr>Validating Model – View</vt:lpstr>
      <vt:lpstr>Display / Edit Annotations </vt:lpstr>
      <vt:lpstr>Session[], TempData[], Cache[] </vt:lpstr>
      <vt:lpstr>PowerPoint Presentation</vt:lpstr>
      <vt:lpstr>Working with Real Data</vt:lpstr>
      <vt:lpstr>PowerPoint Presentation</vt:lpstr>
      <vt:lpstr>ASP.NET MVC Working with Data</vt:lpstr>
      <vt:lpstr>Homework</vt:lpstr>
      <vt:lpstr>Free Trainings @ Telerik Academy</vt:lpstr>
    </vt:vector>
  </TitlesOfParts>
  <Company>Telerik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Telerik Software Academy</dc:title>
  <dc:subject>Telerik Software Academy</dc:subject>
  <dc:creator>Nikolay.IT</dc:creator>
  <cp:keywords>telerik software academy, free courses for developers</cp:keywords>
  <cp:lastModifiedBy>Nikolay Kostov</cp:lastModifiedBy>
  <cp:revision>760</cp:revision>
  <dcterms:created xsi:type="dcterms:W3CDTF">2007-12-08T16:03:35Z</dcterms:created>
  <dcterms:modified xsi:type="dcterms:W3CDTF">2013-09-27T09:11:45Z</dcterms:modified>
  <cp:category>software engineering</cp:category>
</cp:coreProperties>
</file>