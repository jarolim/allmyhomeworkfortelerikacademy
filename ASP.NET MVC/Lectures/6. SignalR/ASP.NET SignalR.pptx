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2"/>
  </p:notesMasterIdLst>
  <p:handoutMasterIdLst>
    <p:handoutMasterId r:id="rId33"/>
  </p:handoutMasterIdLst>
  <p:sldIdLst>
    <p:sldId id="338" r:id="rId2"/>
    <p:sldId id="335" r:id="rId3"/>
    <p:sldId id="421" r:id="rId4"/>
    <p:sldId id="451" r:id="rId5"/>
    <p:sldId id="452" r:id="rId6"/>
    <p:sldId id="454" r:id="rId7"/>
    <p:sldId id="453" r:id="rId8"/>
    <p:sldId id="455" r:id="rId9"/>
    <p:sldId id="456" r:id="rId10"/>
    <p:sldId id="457" r:id="rId11"/>
    <p:sldId id="458" r:id="rId12"/>
    <p:sldId id="459" r:id="rId13"/>
    <p:sldId id="460" r:id="rId14"/>
    <p:sldId id="461" r:id="rId15"/>
    <p:sldId id="474" r:id="rId16"/>
    <p:sldId id="462" r:id="rId17"/>
    <p:sldId id="463" r:id="rId18"/>
    <p:sldId id="464" r:id="rId19"/>
    <p:sldId id="465" r:id="rId20"/>
    <p:sldId id="466" r:id="rId21"/>
    <p:sldId id="467" r:id="rId22"/>
    <p:sldId id="468" r:id="rId23"/>
    <p:sldId id="469" r:id="rId24"/>
    <p:sldId id="470" r:id="rId25"/>
    <p:sldId id="471" r:id="rId26"/>
    <p:sldId id="472" r:id="rId27"/>
    <p:sldId id="473" r:id="rId28"/>
    <p:sldId id="334" r:id="rId29"/>
    <p:sldId id="450" r:id="rId30"/>
    <p:sldId id="403" r:id="rId31"/>
  </p:sldIdLst>
  <p:sldSz cx="9144000" cy="6858000" type="screen4x3"/>
  <p:notesSz cx="6881813" cy="9296400"/>
  <p:custDataLst>
    <p:tags r:id="rId34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5pPr>
    <a:lvl6pPr marL="2286000" algn="l" defTabSz="914400" rtl="0" eaLnBrk="1" latinLnBrk="0" hangingPunct="1"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6pPr>
    <a:lvl7pPr marL="2743200" algn="l" defTabSz="914400" rtl="0" eaLnBrk="1" latinLnBrk="0" hangingPunct="1"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7pPr>
    <a:lvl8pPr marL="3200400" algn="l" defTabSz="914400" rtl="0" eaLnBrk="1" latinLnBrk="0" hangingPunct="1"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8pPr>
    <a:lvl9pPr marL="3657600" algn="l" defTabSz="914400" rtl="0" eaLnBrk="1" latinLnBrk="0" hangingPunct="1"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928">
          <p15:clr>
            <a:srgbClr val="A4A3A4"/>
          </p15:clr>
        </p15:guide>
        <p15:guide id="2" pos="216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9BCC00"/>
    <a:srgbClr val="9ED000"/>
    <a:srgbClr val="F4FCD8"/>
    <a:srgbClr val="E8FFC8"/>
    <a:srgbClr val="FAF7C8"/>
    <a:srgbClr val="FAF8C8"/>
    <a:srgbClr val="F5FFC2"/>
    <a:srgbClr val="EBFFD2"/>
    <a:srgbClr val="EBFF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00" autoAdjust="0"/>
    <p:restoredTop sz="94468" autoAdjust="0"/>
  </p:normalViewPr>
  <p:slideViewPr>
    <p:cSldViewPr>
      <p:cViewPr>
        <p:scale>
          <a:sx n="114" d="100"/>
          <a:sy n="114" d="100"/>
        </p:scale>
        <p:origin x="-82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-2778" y="-96"/>
      </p:cViewPr>
      <p:guideLst>
        <p:guide orient="horz" pos="2928"/>
        <p:guide pos="216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auto">
          <a:xfrm>
            <a:off x="3897313" y="0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3BF7C7B5-275F-4D1F-9AB4-9255447DBC73}" type="datetimeFigureOut">
              <a:rPr lang="en-US"/>
              <a:pPr/>
              <a:t>9/24/2013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8829675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897313" y="8829675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3DADE544-1278-4EDA-8870-0A169B9A6D6D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2406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97313" y="0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9B46F231-FB2B-4655-A644-E2477325E686}" type="datetimeFigureOut">
              <a:rPr lang="en-US"/>
              <a:pPr/>
              <a:t>9/24/2013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76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7388" y="4416425"/>
            <a:ext cx="5507037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829675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97313" y="8829675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6FB4F6EA-423E-42DF-9292-215E7D886C4E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2019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hyperlink" Target="http://mvccourse.telerik.com/" TargetMode="External"/><Relationship Id="rId13" Type="http://schemas.openxmlformats.org/officeDocument/2006/relationships/hyperlink" Target="http://algoacademy.telerik.com/" TargetMode="External"/><Relationship Id="rId18" Type="http://schemas.openxmlformats.org/officeDocument/2006/relationships/hyperlink" Target="http://www.minkov.it/" TargetMode="External"/><Relationship Id="rId3" Type="http://schemas.openxmlformats.org/officeDocument/2006/relationships/hyperlink" Target="http://kursove-uroci-knigi-obuchenie-programirane-web-design-csharp.info/" TargetMode="External"/><Relationship Id="rId7" Type="http://schemas.openxmlformats.org/officeDocument/2006/relationships/hyperlink" Target="http://schoolacademy.telerik.com/" TargetMode="External"/><Relationship Id="rId12" Type="http://schemas.openxmlformats.org/officeDocument/2006/relationships/hyperlink" Target="http://codecourse.telerik.com/" TargetMode="External"/><Relationship Id="rId17" Type="http://schemas.openxmlformats.org/officeDocument/2006/relationships/hyperlink" Target="http://www.introprogramming.info/" TargetMode="External"/><Relationship Id="rId2" Type="http://schemas.openxmlformats.org/officeDocument/2006/relationships/hyperlink" Target="http://forums.academy.telerik.com/" TargetMode="External"/><Relationship Id="rId16" Type="http://schemas.openxmlformats.org/officeDocument/2006/relationships/hyperlink" Target="http://mobiledevcourse.telerik.com/" TargetMode="External"/><Relationship Id="rId20" Type="http://schemas.openxmlformats.org/officeDocument/2006/relationships/hyperlink" Target="http://csharpfundamentals.telerik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html5course.telerik.com/" TargetMode="External"/><Relationship Id="rId11" Type="http://schemas.openxmlformats.org/officeDocument/2006/relationships/hyperlink" Target="http://www.nakov.com/" TargetMode="External"/><Relationship Id="rId5" Type="http://schemas.openxmlformats.org/officeDocument/2006/relationships/hyperlink" Target="http://seocourse.telerik.com/" TargetMode="External"/><Relationship Id="rId15" Type="http://schemas.openxmlformats.org/officeDocument/2006/relationships/hyperlink" Target="http://academy.telerik.com/" TargetMode="External"/><Relationship Id="rId10" Type="http://schemas.openxmlformats.org/officeDocument/2006/relationships/hyperlink" Target="http://www.bgcoder.com/" TargetMode="External"/><Relationship Id="rId19" Type="http://schemas.openxmlformats.org/officeDocument/2006/relationships/hyperlink" Target="http://www.nikolay.it/" TargetMode="External"/><Relationship Id="rId4" Type="http://schemas.openxmlformats.org/officeDocument/2006/relationships/hyperlink" Target="http://www.telerik-kids.com/" TargetMode="External"/><Relationship Id="rId9" Type="http://schemas.openxmlformats.org/officeDocument/2006/relationships/hyperlink" Target="http://clouddevcourse.telerik.com/" TargetMode="External"/><Relationship Id="rId14" Type="http://schemas.openxmlformats.org/officeDocument/2006/relationships/hyperlink" Target="http://aspnetcourse.telerik.com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8"/>
          <p:cNvSpPr>
            <a:spLocks noGrp="1"/>
          </p:cNvSpPr>
          <p:nvPr>
            <p:ph type="ctrTitle" hasCustomPrompt="1"/>
          </p:nvPr>
        </p:nvSpPr>
        <p:spPr>
          <a:xfrm>
            <a:off x="457200" y="1524000"/>
            <a:ext cx="8229600" cy="1524000"/>
          </a:xfrm>
          <a:prstGeom prst="rect">
            <a:avLst/>
          </a:prstGeom>
        </p:spPr>
        <p:txBody>
          <a:bodyPr tIns="0" bIns="0" anchor="b" anchorCtr="0"/>
          <a:lstStyle>
            <a:lvl1pPr algn="r">
              <a:lnSpc>
                <a:spcPts val="5600"/>
              </a:lnSpc>
              <a:defRPr sz="5400" cap="none" baseline="0">
                <a:solidFill>
                  <a:srgbClr val="D4FF5B"/>
                </a:solidFill>
                <a:effectLst>
                  <a:outerShdw blurRad="30000" dist="30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  <a:reflection blurRad="120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Presentation Title</a:t>
            </a:r>
            <a:endParaRPr lang="en-US" dirty="0"/>
          </a:p>
        </p:txBody>
      </p:sp>
      <p:sp>
        <p:nvSpPr>
          <p:cNvPr id="7" name="Subtitle 16"/>
          <p:cNvSpPr>
            <a:spLocks noGrp="1"/>
          </p:cNvSpPr>
          <p:nvPr>
            <p:ph type="subTitle" idx="1" hasCustomPrompt="1"/>
          </p:nvPr>
        </p:nvSpPr>
        <p:spPr>
          <a:xfrm>
            <a:off x="457200" y="3240880"/>
            <a:ext cx="8229600" cy="569120"/>
          </a:xfrm>
          <a:prstGeom prst="rect">
            <a:avLst/>
          </a:prstGeom>
        </p:spPr>
        <p:txBody>
          <a:bodyPr lIns="90000" tIns="0" rIns="90000" bIns="0" anchor="ctr" anchorCtr="0"/>
          <a:lstStyle>
            <a:lvl1pPr marL="0" indent="0" algn="r">
              <a:buNone/>
              <a:defRPr sz="2800">
                <a:solidFill>
                  <a:srgbClr val="FAF8C8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 smtClean="0"/>
              <a:t>Presentation Subtitle</a:t>
            </a:r>
            <a:endParaRPr 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2667000" y="4114800"/>
            <a:ext cx="6248400" cy="0"/>
          </a:xfrm>
          <a:prstGeom prst="line">
            <a:avLst/>
          </a:prstGeom>
          <a:ln w="38100" cap="rnd">
            <a:solidFill>
              <a:schemeClr val="accent5">
                <a:lumMod val="20000"/>
                <a:lumOff val="80000"/>
                <a:alpha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44500" y="4572000"/>
            <a:ext cx="3352800" cy="533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2800" b="1" kern="1200" dirty="0" smtClean="0">
                <a:solidFill>
                  <a:srgbClr val="DEFF9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Author Name</a:t>
            </a:r>
            <a:endParaRPr lang="en-US" dirty="0"/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5833646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1800" b="1" kern="1200" dirty="0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marL="319088" lvl="0" indent="-319088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1800" b="1" dirty="0" smtClean="0">
                <a:solidFill>
                  <a:srgbClr val="0EFE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Company Name</a:t>
            </a:r>
            <a:endParaRPr lang="en-US" sz="1800" b="1" dirty="0">
              <a:solidFill>
                <a:srgbClr val="0EFE5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6138446"/>
            <a:ext cx="3352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1600" b="1" kern="1200" dirty="0" smtClean="0">
                <a:solidFill>
                  <a:srgbClr val="0EFE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algn="l"/>
            <a:r>
              <a:rPr lang="en-US" sz="1600" b="1" dirty="0" smtClean="0"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Company Web Site</a:t>
            </a:r>
            <a:endParaRPr lang="en-US" sz="1600" b="1" dirty="0"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5029200"/>
            <a:ext cx="335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2300" b="1" kern="1200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Position</a:t>
            </a:r>
            <a:endParaRPr lang="en-US" dirty="0"/>
          </a:p>
        </p:txBody>
      </p:sp>
      <p:sp>
        <p:nvSpPr>
          <p:cNvPr id="9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5405735"/>
            <a:ext cx="3352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Web Site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4267200" y="4572000"/>
            <a:ext cx="4419600" cy="1905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 smtClean="0"/>
              <a:t>Insert a Picture Here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76200"/>
            <a:ext cx="70866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r" rtl="0" eaLnBrk="0" fontAlgn="base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lang="en-US" sz="4000" b="1" kern="1200" baseline="0" dirty="0">
                <a:ln w="500"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28600" y="914400"/>
            <a:ext cx="8686800" cy="5791200"/>
          </a:xfrm>
          <a:prstGeom prst="rect">
            <a:avLst/>
          </a:prstGeom>
        </p:spPr>
        <p:txBody>
          <a:bodyPr/>
          <a:lstStyle>
            <a:lvl1pPr marL="282575" indent="-2825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tabLst>
                <a:tab pos="282575" algn="l"/>
              </a:tabLst>
              <a:defRPr sz="3200">
                <a:solidFill>
                  <a:srgbClr val="EBFFD2"/>
                </a:solidFill>
              </a:defRPr>
            </a:lvl1pPr>
            <a:lvl2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defRPr sz="3000">
                <a:solidFill>
                  <a:schemeClr val="tx1">
                    <a:lumMod val="40000"/>
                    <a:lumOff val="60000"/>
                  </a:schemeClr>
                </a:solidFill>
              </a:defRPr>
            </a:lvl2pPr>
            <a:lvl3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defRPr sz="2800">
                <a:solidFill>
                  <a:srgbClr val="F5FFC2"/>
                </a:solidFill>
              </a:defRPr>
            </a:lvl3pPr>
            <a:lvl4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defRPr sz="2600">
                <a:solidFill>
                  <a:schemeClr val="tx1">
                    <a:lumMod val="40000"/>
                    <a:lumOff val="60000"/>
                  </a:schemeClr>
                </a:solidFill>
              </a:defRPr>
            </a:lvl4pPr>
            <a:lvl5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defRPr sz="2400">
                <a:solidFill>
                  <a:schemeClr val="tx1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First Level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610600" y="6553200"/>
            <a:ext cx="457200" cy="228600"/>
          </a:xfrm>
          <a:prstGeom prst="rect">
            <a:avLst/>
          </a:prstGeom>
        </p:spPr>
        <p:txBody>
          <a:bodyPr anchor="ctr" anchorCtr="0"/>
          <a:lstStyle>
            <a:lvl1pPr algn="r">
              <a:defRPr sz="1100"/>
            </a:lvl1pPr>
          </a:lstStyle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76200"/>
            <a:ext cx="70866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ts val="4000"/>
              </a:lnSpc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228600" y="990600"/>
            <a:ext cx="8686800" cy="579646"/>
          </a:xfrm>
          <a:prstGeom prst="rect">
            <a:avLst/>
          </a:prstGeom>
        </p:spPr>
        <p:txBody>
          <a:bodyPr>
            <a:spAutoFit/>
          </a:bodyPr>
          <a:lstStyle>
            <a:lvl1pPr marL="319088" marR="0" indent="-3190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buFont typeface="Wingdings 2" pitchFamily="18" charset="2"/>
              <a:buChar char=""/>
              <a:tabLst/>
              <a:defRPr sz="3000" baseline="0"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  <a:lvl2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defRPr sz="3000">
                <a:solidFill>
                  <a:schemeClr val="tx1">
                    <a:lumMod val="40000"/>
                    <a:lumOff val="60000"/>
                  </a:schemeClr>
                </a:solidFill>
              </a:defRPr>
            </a:lvl2pPr>
            <a:lvl3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defRPr sz="2800">
                <a:solidFill>
                  <a:schemeClr val="tx1">
                    <a:lumMod val="40000"/>
                    <a:lumOff val="60000"/>
                  </a:schemeClr>
                </a:solidFill>
              </a:defRPr>
            </a:lvl3pPr>
            <a:lvl4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defRPr sz="2600">
                <a:solidFill>
                  <a:schemeClr val="tx1">
                    <a:lumMod val="40000"/>
                    <a:lumOff val="60000"/>
                  </a:schemeClr>
                </a:solidFill>
              </a:defRPr>
            </a:lvl4pPr>
            <a:lvl5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defRPr sz="2400">
                <a:solidFill>
                  <a:schemeClr val="tx1">
                    <a:lumMod val="40000"/>
                    <a:lumOff val="60000"/>
                  </a:schemeClr>
                </a:solidFill>
              </a:defRPr>
            </a:lvl5pPr>
          </a:lstStyle>
          <a:p>
            <a:pPr marL="319088" marR="0" lvl="0" indent="-3190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buFont typeface="Wingdings 2" pitchFamily="18" charset="2"/>
              <a:buChar char=""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FF66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First Level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533400" y="1752600"/>
            <a:ext cx="8077200" cy="470898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lang="en-US" sz="2000" smtClean="0">
                <a:solidFill>
                  <a:srgbClr val="8CF4F2"/>
                </a:solidFill>
                <a:latin typeface="Consolas" pitchFamily="49" charset="0"/>
                <a:cs typeface="Consolas" pitchFamily="49" charset="0"/>
              </a:defRPr>
            </a:lvl1pPr>
          </a:lstStyle>
          <a:p>
            <a:pPr lvl="0"/>
            <a:r>
              <a:rPr lang="en-US" noProof="1" smtClean="0"/>
              <a:t>Enter source code here</a:t>
            </a:r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610600" y="6553200"/>
            <a:ext cx="457200" cy="228600"/>
          </a:xfrm>
          <a:prstGeom prst="rect">
            <a:avLst/>
          </a:prstGeom>
        </p:spPr>
        <p:txBody>
          <a:bodyPr anchor="ctr" anchorCtr="0"/>
          <a:lstStyle>
            <a:lvl1pPr algn="r">
              <a:defRPr sz="1100"/>
            </a:lvl1pPr>
          </a:lstStyle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685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 hasCustomPrompt="1"/>
          </p:nvPr>
        </p:nvSpPr>
        <p:spPr>
          <a:xfrm>
            <a:off x="609600" y="2743201"/>
            <a:ext cx="7924800" cy="685800"/>
          </a:xfrm>
          <a:prstGeom prst="rect">
            <a:avLst/>
          </a:prstGeom>
        </p:spPr>
        <p:txBody>
          <a:bodyPr tIns="0" bIns="0" anchor="ctr" anchorCtr="0"/>
          <a:lstStyle>
            <a:lvl1pPr algn="ctr">
              <a:lnSpc>
                <a:spcPts val="5600"/>
              </a:lnSpc>
              <a:defRPr sz="5000" cap="none" baseline="0">
                <a:effectLst>
                  <a:outerShdw blurRad="30000" dist="30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  <a:reflection blurRad="120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Section Title</a:t>
            </a:r>
            <a:endParaRPr lang="en-US" dirty="0"/>
          </a:p>
        </p:txBody>
      </p:sp>
      <p:sp>
        <p:nvSpPr>
          <p:cNvPr id="17" name="Subtitle 16"/>
          <p:cNvSpPr>
            <a:spLocks noGrp="1"/>
          </p:cNvSpPr>
          <p:nvPr>
            <p:ph type="subTitle" idx="1" hasCustomPrompt="1"/>
          </p:nvPr>
        </p:nvSpPr>
        <p:spPr>
          <a:xfrm>
            <a:off x="609600" y="3469480"/>
            <a:ext cx="7924800" cy="56912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800" b="1" kern="1200" baseline="0" dirty="0">
                <a:solidFill>
                  <a:srgbClr val="FAF7C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 smtClean="0"/>
              <a:t>Section Subtitle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/>
          <p:cNvGrpSpPr/>
          <p:nvPr userDrawn="1"/>
        </p:nvGrpSpPr>
        <p:grpSpPr>
          <a:xfrm>
            <a:off x="130434" y="6373882"/>
            <a:ext cx="1816798" cy="331718"/>
            <a:chOff x="1236228" y="1523999"/>
            <a:chExt cx="4351212" cy="3261410"/>
          </a:xfrm>
          <a:noFill/>
        </p:grpSpPr>
        <p:sp>
          <p:nvSpPr>
            <p:cNvPr id="31" name="TextBox 30">
              <a:hlinkClick r:id="rId2" tooltip="Форум за програмиране и уеб дизайн - дискусии, съвети, въпроси и отговори @ Софтуерна академия на Телерик"/>
            </p:cNvPr>
            <p:cNvSpPr txBox="1"/>
            <p:nvPr userDrawn="1"/>
          </p:nvSpPr>
          <p:spPr>
            <a:xfrm flipH="1">
              <a:off x="3394420" y="1733044"/>
              <a:ext cx="1528760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форум програмиране, форум уеб дизайн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2" name="TextBox 31">
              <a:hlinkClick r:id="rId3" tooltip="Курсове и уроци по програмиране, уеб дизайн, разработка на софтуер и информационни технологии - лекции, видео уроци, обучения - безплатно"/>
            </p:cNvPr>
            <p:cNvSpPr txBox="1"/>
            <p:nvPr userDrawn="1"/>
          </p:nvSpPr>
          <p:spPr>
            <a:xfrm flipH="1">
              <a:off x="1350512" y="1528531"/>
              <a:ext cx="2008656" cy="1149887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курсове и уроци по програмиране, уеб дизайн – безплатно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3" name="TextBox 32">
              <a:hlinkClick r:id="rId4" tooltip="Програмиране за деца - безплатно в Телерик кидс академия"/>
            </p:cNvPr>
            <p:cNvSpPr txBox="1"/>
            <p:nvPr userDrawn="1"/>
          </p:nvSpPr>
          <p:spPr>
            <a:xfrm flipH="1">
              <a:off x="1538277" y="2175145"/>
              <a:ext cx="181669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програмиране за деца – безплатни курсове и уроци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4" name="TextBox 33">
              <a:hlinkClick r:id="rId5" tooltip="Безплатен SEO курс - оптимизация за търсачки, уроци по SEO"/>
            </p:cNvPr>
            <p:cNvSpPr txBox="1"/>
            <p:nvPr userDrawn="1"/>
          </p:nvSpPr>
          <p:spPr>
            <a:xfrm flipH="1">
              <a:off x="1660733" y="2421354"/>
              <a:ext cx="1697683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 algn="l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безплатен SEO курс - оптимизация за търсачки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5" name="TextBox 34">
              <a:hlinkClick r:id="rId6" tooltip="Безплатен курс &quot;Уеб дизайн с HTML, CSS и JavaScript&quot; - уроци по правене на уеб сайтове, HTML, CSS, Photoshop, JavaScript и CMS системи"/>
            </p:cNvPr>
            <p:cNvSpPr txBox="1"/>
            <p:nvPr userDrawn="1"/>
          </p:nvSpPr>
          <p:spPr>
            <a:xfrm flipH="1">
              <a:off x="1448482" y="2878556"/>
              <a:ext cx="190883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уроци по уеб дизайн, HTML, CSS, JavaScript, Photoshop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6" name="TextBox 35">
              <a:hlinkClick r:id="rId7" tooltip="Училищна софтуерна академия - безплатни уроци по програмиране и уеб дизайн"/>
            </p:cNvPr>
            <p:cNvSpPr txBox="1"/>
            <p:nvPr userDrawn="1"/>
          </p:nvSpPr>
          <p:spPr>
            <a:xfrm flipH="1">
              <a:off x="1636239" y="1946534"/>
              <a:ext cx="1747592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l"/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уроци по програмиране и уеб дизайн за ученици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7" name="TextBox 36">
              <a:hlinkClick r:id="rId8" tooltip="Безплатен курс &quot;Програмиране с ASP.NET MVC&quot; - уеб технологии, бази данни, C#, .NET, ASP.NET MVC"/>
            </p:cNvPr>
            <p:cNvSpPr txBox="1"/>
            <p:nvPr userDrawn="1"/>
          </p:nvSpPr>
          <p:spPr>
            <a:xfrm flipH="1">
              <a:off x="3402824" y="2230065"/>
              <a:ext cx="1939551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ASP.NET MVC курс – HTML, SQL, C#, .NET, ASP.NET MVC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8" name="TextBox 37">
              <a:hlinkClick r:id="rId9" tooltip="Безплатен курс &quot;Разработка на софтуер в Cloud среда&quot; - AppEngine, AWS, Azure"/>
            </p:cNvPr>
            <p:cNvSpPr txBox="1"/>
            <p:nvPr userDrawn="1"/>
          </p:nvSpPr>
          <p:spPr>
            <a:xfrm flipH="1">
              <a:off x="1440310" y="3574997"/>
              <a:ext cx="1881966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безплатен курс "Разработка на софтуер в cloud среда"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9" name="TextBox 38">
              <a:hlinkClick r:id="rId10" tooltip="BG Coder - онлайн състезателна система - тренировки за състезания по програмиране - online judge"/>
            </p:cNvPr>
            <p:cNvSpPr txBox="1"/>
            <p:nvPr userDrawn="1"/>
          </p:nvSpPr>
          <p:spPr>
            <a:xfrm flipH="1">
              <a:off x="3389110" y="1523999"/>
              <a:ext cx="187428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BG Coder - онлайн състезателна система - online judge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0" name="TextBox 39">
              <a:hlinkClick r:id="rId11" tooltip="Светлин Наков - курсове и уроци по програмиране, уеб дизайн, книги, обучения - безплатно"/>
            </p:cNvPr>
            <p:cNvSpPr txBox="1"/>
            <p:nvPr userDrawn="1"/>
          </p:nvSpPr>
          <p:spPr>
            <a:xfrm flipH="1">
              <a:off x="1236228" y="2649965"/>
              <a:ext cx="2123831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курсове и уроци по програмиране, книги – безплатно от Наков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1" name="TextBox 40">
              <a:hlinkClick r:id="rId12" tooltip="Безплатен курс &quot;Качествен програмен код&quot;"/>
            </p:cNvPr>
            <p:cNvSpPr txBox="1"/>
            <p:nvPr userDrawn="1"/>
          </p:nvSpPr>
          <p:spPr>
            <a:xfrm flipH="1">
              <a:off x="1766855" y="3335748"/>
              <a:ext cx="1594026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безплатен курс "Качествен програмен код"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2" name="TextBox 41">
              <a:hlinkClick r:id="rId13" tooltip="Алго академия - Академия по алгоритмично програмиране - безплатни уроци по алгоритми и структури от данни, състезателно програмиране и състезания"/>
            </p:cNvPr>
            <p:cNvSpPr txBox="1"/>
            <p:nvPr userDrawn="1"/>
          </p:nvSpPr>
          <p:spPr>
            <a:xfrm flipH="1">
              <a:off x="3407676" y="2461282"/>
              <a:ext cx="1977943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алго академия – състезателно програмиране, състезания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3" name="TextBox 42">
              <a:hlinkClick r:id="rId14" tooltip="Безплатен ASP.NET курс - уеб програмиране, бази данни, C#, .NET, ASP.NET"/>
            </p:cNvPr>
            <p:cNvSpPr txBox="1"/>
            <p:nvPr userDrawn="1"/>
          </p:nvSpPr>
          <p:spPr>
            <a:xfrm flipH="1">
              <a:off x="3406019" y="1985429"/>
              <a:ext cx="2181421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ASP.NET курс - уеб програмиране, бази данни, C#, .NET, ASP.NET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4" name="TextBox 43">
              <a:hlinkClick r:id="rId15" tooltip="Софтуерна академия на Телерик - безплатни курсове и уроци по програмиране"/>
            </p:cNvPr>
            <p:cNvSpPr txBox="1"/>
            <p:nvPr userDrawn="1"/>
          </p:nvSpPr>
          <p:spPr>
            <a:xfrm flipH="1">
              <a:off x="1504800" y="1717933"/>
              <a:ext cx="1901159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200"/>
              </a:lvl1pPr>
            </a:lstStyle>
            <a:p>
              <a:pPr lvl="0" algn="l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курсове и уроци по </a:t>
              </a:r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програмиране – Телерик академия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5" name="TextBox 44">
              <a:hlinkClick r:id="rId16" tooltip="Безплатен курс &quot;Разработка на мобилни приложения&quot; - iPhone, Android, Windows Phone, PhoneGap, HTML5, jQuery, AJAX"/>
            </p:cNvPr>
            <p:cNvSpPr txBox="1"/>
            <p:nvPr userDrawn="1"/>
          </p:nvSpPr>
          <p:spPr>
            <a:xfrm flipH="1">
              <a:off x="3404043" y="2718405"/>
              <a:ext cx="2058568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курс мобилни приложения с iPhone, Android, WP7, PhoneGap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6" name="TextBox 45">
              <a:hlinkClick r:id="rId17" tooltip="Free C# Programming Book by Svetlin Nakov - безплатна C# книга от Светлин Наков, книга C#, книга Java, безплатна книга"/>
            </p:cNvPr>
            <p:cNvSpPr txBox="1"/>
            <p:nvPr userDrawn="1"/>
          </p:nvSpPr>
          <p:spPr>
            <a:xfrm flipH="1">
              <a:off x="1440317" y="3117785"/>
              <a:ext cx="1901159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free C# book, безплатна книга C#, книга Java, книга C#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7" name="TextBox 46">
              <a:hlinkClick r:id="rId18" tooltip="Дончо Минков - сайт за програмиране"/>
            </p:cNvPr>
            <p:cNvSpPr txBox="1"/>
            <p:nvPr userDrawn="1"/>
          </p:nvSpPr>
          <p:spPr>
            <a:xfrm flipH="1">
              <a:off x="3401370" y="2963513"/>
              <a:ext cx="1475012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600">
                  <a:ln w="0">
                    <a:solidFill>
                      <a:schemeClr val="tx1"/>
                    </a:solidFill>
                  </a:ln>
                  <a:effectLst/>
                </a:defRPr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</a:rPr>
                <a:t>Дончо Минков - сайт за програмиране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</a:endParaRPr>
            </a:p>
          </p:txBody>
        </p:sp>
        <p:sp>
          <p:nvSpPr>
            <p:cNvPr id="48" name="TextBox 47">
              <a:hlinkClick r:id="rId19" tooltip="Николай Костов - блог за програмиране"/>
            </p:cNvPr>
            <p:cNvSpPr txBox="1"/>
            <p:nvPr userDrawn="1"/>
          </p:nvSpPr>
          <p:spPr>
            <a:xfrm flipH="1">
              <a:off x="3401423" y="3217864"/>
              <a:ext cx="1513403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l"/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Николай Костов - блог за програмиране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9" name="TextBox 48">
              <a:hlinkClick r:id="rId20" tooltip="безплатен C# курс в софтуерната академия на Наков"/>
            </p:cNvPr>
            <p:cNvSpPr txBox="1"/>
            <p:nvPr userDrawn="1"/>
          </p:nvSpPr>
          <p:spPr>
            <a:xfrm flipH="1">
              <a:off x="3398079" y="3548402"/>
              <a:ext cx="135983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600">
                  <a:ln w="0">
                    <a:solidFill>
                      <a:schemeClr val="tx1"/>
                    </a:solidFill>
                  </a:ln>
                  <a:effectLst/>
                </a:defRPr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</a:rPr>
                <a:t>C# курс, програмиране, безплатно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</a:endParaRPr>
            </a:p>
          </p:txBody>
        </p:sp>
      </p:grp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152400"/>
            <a:ext cx="70866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r" rtl="0" eaLnBrk="0" fontAlgn="base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lang="en-US" sz="4000" b="1" kern="1200" baseline="0" dirty="0">
                <a:ln w="500"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Presentation Title</a:t>
            </a:r>
            <a:endParaRPr lang="en-US" dirty="0"/>
          </a:p>
        </p:txBody>
      </p:sp>
      <p:sp>
        <p:nvSpPr>
          <p:cNvPr id="9" name="TextBox 8">
            <a:hlinkClick r:id="rId2" tooltip="Форум за програмиране и уеб дизайн - дискусии, съвети, въпроси и отговори @ Софтуерна академия на Телерик"/>
          </p:cNvPr>
          <p:cNvSpPr txBox="1"/>
          <p:nvPr userDrawn="1"/>
        </p:nvSpPr>
        <p:spPr>
          <a:xfrm rot="12041701" flipH="1">
            <a:off x="7471619" y="3840481"/>
            <a:ext cx="890352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9600" b="1" dirty="0" smtClean="0">
                <a:solidFill>
                  <a:schemeClr val="tx1">
                    <a:lumMod val="75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9600" b="1" dirty="0">
              <a:solidFill>
                <a:schemeClr val="tx1">
                  <a:lumMod val="75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1" name="TextBox 10">
            <a:hlinkClick r:id="rId4" tooltip="Програмиране за деца - безплатно в Телерик кидс академия"/>
          </p:cNvPr>
          <p:cNvSpPr txBox="1"/>
          <p:nvPr userDrawn="1"/>
        </p:nvSpPr>
        <p:spPr>
          <a:xfrm rot="9535351" flipH="1">
            <a:off x="923386" y="1861198"/>
            <a:ext cx="673363" cy="14465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isometricOffAxis1Righ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8800" dirty="0" smtClean="0"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8800" dirty="0">
              <a:solidFill>
                <a:schemeClr val="accent5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2" name="TextBox 11">
            <a:hlinkClick r:id="rId5" tooltip="Безплатен SEO курс - оптимизация за търсачки, уроци по SEO"/>
          </p:cNvPr>
          <p:cNvSpPr txBox="1"/>
          <p:nvPr userDrawn="1"/>
        </p:nvSpPr>
        <p:spPr>
          <a:xfrm rot="16938170" flipH="1">
            <a:off x="4905823" y="966542"/>
            <a:ext cx="859648" cy="19928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11500" b="1" dirty="0" smtClean="0">
                <a:solidFill>
                  <a:srgbClr val="FF831D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11500" b="1" dirty="0">
              <a:solidFill>
                <a:srgbClr val="FF831D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3" name="TextBox 12">
            <a:hlinkClick r:id="rId6" tooltip="Безплатен курс &quot;Уеб дизайн с HTML, CSS и JavaScript&quot; - уроци по правене на уеб сайтове, HTML, CSS, Photoshop, JavaScript и CMS системи"/>
          </p:cNvPr>
          <p:cNvSpPr txBox="1"/>
          <p:nvPr userDrawn="1"/>
        </p:nvSpPr>
        <p:spPr>
          <a:xfrm rot="19836951" flipH="1">
            <a:off x="7379010" y="1495154"/>
            <a:ext cx="949687" cy="206210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128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innerShdw blurRad="63500" dist="50800" dir="8100000">
                    <a:prstClr val="black">
                      <a:alpha val="50000"/>
                    </a:prstClr>
                  </a:innerShdw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12800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innerShdw blurRad="63500" dist="50800" dir="8100000">
                  <a:prstClr val="black">
                    <a:alpha val="50000"/>
                  </a:prstClr>
                </a:innerShdw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4" name="TextBox 13">
            <a:hlinkClick r:id="rId7" tooltip="Училищна софтуерна академия - безплатни уроци по програмиране и уеб дизайн"/>
          </p:cNvPr>
          <p:cNvSpPr txBox="1"/>
          <p:nvPr userDrawn="1"/>
        </p:nvSpPr>
        <p:spPr>
          <a:xfrm rot="2233443" flipH="1">
            <a:off x="2139218" y="940065"/>
            <a:ext cx="445351" cy="95410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perspectiveHeroicExtremeLeftFacing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5600" dirty="0" smtClean="0">
                <a:solidFill>
                  <a:schemeClr val="tx2">
                    <a:lumMod val="75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5600" dirty="0">
              <a:solidFill>
                <a:schemeClr val="tx2">
                  <a:lumMod val="75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5" name="TextBox 14">
            <a:hlinkClick r:id="rId8" tooltip="Безплатен курс &quot;Програмиране с ASP.NET MVC&quot; - уеб технологии, бази данни, C#, .NET, ASP.NET MVC"/>
          </p:cNvPr>
          <p:cNvSpPr txBox="1"/>
          <p:nvPr userDrawn="1"/>
        </p:nvSpPr>
        <p:spPr>
          <a:xfrm rot="8530737" flipH="1">
            <a:off x="4757100" y="4722613"/>
            <a:ext cx="643173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9600" dirty="0" smtClean="0">
                <a:solidFill>
                  <a:srgbClr val="FF4A37"/>
                </a:solidFill>
                <a:effectLst>
                  <a:reflection blurRad="6350" stA="60000" endA="900" endPos="60000" dist="29997" dir="5400000" sy="-100000" algn="bl" rotWithShape="0"/>
                </a:effectLst>
              </a:rPr>
              <a:t>?</a:t>
            </a:r>
            <a:endParaRPr lang="en-US" sz="9600" dirty="0">
              <a:solidFill>
                <a:srgbClr val="FF4A37"/>
              </a:solidFill>
              <a:effectLst>
                <a:reflection blurRad="6350" stA="60000" endA="900" endPos="60000" dist="29997" dir="5400000" sy="-100000" algn="bl" rotWithShape="0"/>
              </a:effectLst>
            </a:endParaRPr>
          </a:p>
        </p:txBody>
      </p:sp>
      <p:sp>
        <p:nvSpPr>
          <p:cNvPr id="16" name="TextBox 15">
            <a:hlinkClick r:id="rId9" tooltip="Безплатен курс &quot;Разработка на софтуер в Cloud среда&quot; - AppEngine, AWS, Azure"/>
          </p:cNvPr>
          <p:cNvSpPr txBox="1"/>
          <p:nvPr userDrawn="1"/>
        </p:nvSpPr>
        <p:spPr>
          <a:xfrm rot="12627025" flipH="1">
            <a:off x="2910497" y="4405707"/>
            <a:ext cx="386488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600" dirty="0" smtClean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600" dirty="0">
              <a:solidFill>
                <a:schemeClr val="tx2">
                  <a:lumMod val="40000"/>
                  <a:lumOff val="6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7" name="TextBox 16">
            <a:hlinkClick r:id="rId10" tooltip="BG Coder - онлайн състезателна система - тренировки за състезания по програмиране - online judge"/>
          </p:cNvPr>
          <p:cNvSpPr txBox="1"/>
          <p:nvPr userDrawn="1"/>
        </p:nvSpPr>
        <p:spPr>
          <a:xfrm rot="1186146" flipH="1">
            <a:off x="6185957" y="4125718"/>
            <a:ext cx="499379" cy="110799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</a:sp3d>
          </a:bodyPr>
          <a:lstStyle/>
          <a:p>
            <a:r>
              <a:rPr lang="en-US" sz="6600" dirty="0" smtClean="0">
                <a:solidFill>
                  <a:srgbClr val="9966FF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6600" dirty="0">
              <a:solidFill>
                <a:srgbClr val="9966FF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8" name="TextBox 17">
            <a:hlinkClick r:id="rId11" tooltip="Светлин Наков - курсове и уроци по програмиране, уеб дизайн, книги, обучения - безплатно"/>
          </p:cNvPr>
          <p:cNvSpPr txBox="1"/>
          <p:nvPr userDrawn="1"/>
        </p:nvSpPr>
        <p:spPr>
          <a:xfrm rot="19460650" flipH="1">
            <a:off x="3150206" y="1979501"/>
            <a:ext cx="489197" cy="769441"/>
          </a:xfrm>
          <a:prstGeom prst="rect">
            <a:avLst/>
          </a:prstGeom>
          <a:noFill/>
        </p:spPr>
        <p:txBody>
          <a:bodyPr wrap="square" rtlCol="0">
            <a:prstTxWarp prst="textInflate">
              <a:avLst/>
            </a:prstTxWarp>
            <a:spAutoFit/>
            <a:scene3d>
              <a:camera prst="perspectiveRelaxedModerately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400" dirty="0" smtClean="0">
                <a:solidFill>
                  <a:srgbClr val="FF6699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400" dirty="0">
              <a:solidFill>
                <a:srgbClr val="FF6699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9" name="TextBox 18">
            <a:hlinkClick r:id="rId12" tooltip="Безплатен курс &quot;Качествен програмен код&quot;"/>
          </p:cNvPr>
          <p:cNvSpPr txBox="1"/>
          <p:nvPr userDrawn="1"/>
        </p:nvSpPr>
        <p:spPr>
          <a:xfrm rot="18277140" flipH="1">
            <a:off x="405234" y="3272336"/>
            <a:ext cx="413607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600" dirty="0" smtClean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600" dirty="0">
              <a:solidFill>
                <a:schemeClr val="tx2">
                  <a:lumMod val="40000"/>
                  <a:lumOff val="6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0" name="TextBox 19">
            <a:hlinkClick r:id="rId13" tooltip="Алго академия - Академия по алгоритмично програмиране - безплатни уроци по алгоритми и структури от данни, състезателно програмиране и състезания"/>
          </p:cNvPr>
          <p:cNvSpPr txBox="1"/>
          <p:nvPr userDrawn="1"/>
        </p:nvSpPr>
        <p:spPr>
          <a:xfrm rot="18695734" flipH="1">
            <a:off x="3127407" y="5396299"/>
            <a:ext cx="5481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?</a:t>
            </a:r>
            <a:endParaRPr lang="en-US" sz="60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21" name="TextBox 20">
            <a:hlinkClick r:id="rId14" tooltip="Безплатен ASP.NET курс - уеб програмиране, бази данни, C#, .NET, ASP.NET"/>
          </p:cNvPr>
          <p:cNvSpPr txBox="1"/>
          <p:nvPr userDrawn="1"/>
        </p:nvSpPr>
        <p:spPr>
          <a:xfrm rot="10134629" flipH="1">
            <a:off x="6730680" y="5522529"/>
            <a:ext cx="44439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000" dirty="0" smtClean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000" dirty="0"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2" name="TextBox 21">
            <a:hlinkClick r:id="rId15" tooltip="Софтуерна академия на Телерик - безплатни курсове и уроци по програмиране"/>
          </p:cNvPr>
          <p:cNvSpPr txBox="1"/>
          <p:nvPr userDrawn="1"/>
        </p:nvSpPr>
        <p:spPr>
          <a:xfrm rot="12126217" flipH="1">
            <a:off x="559977" y="930479"/>
            <a:ext cx="387894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en-US" sz="4000" b="1" spc="150" dirty="0" smtClean="0">
                <a:ln w="1143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</a:rPr>
              <a:t>?</a:t>
            </a:r>
            <a:endParaRPr lang="en-US" sz="4000" b="1" spc="150" dirty="0">
              <a:ln w="11430"/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  <p:sp>
        <p:nvSpPr>
          <p:cNvPr id="23" name="TextBox 22">
            <a:hlinkClick r:id="rId16" tooltip="Безплатен курс &quot;Разработка на мобилни приложения&quot; - iPhone, Android, Windows Phone, PhoneGap, HTML5, jQuery, AJAX"/>
          </p:cNvPr>
          <p:cNvSpPr txBox="1"/>
          <p:nvPr userDrawn="1"/>
        </p:nvSpPr>
        <p:spPr>
          <a:xfrm rot="20840689" flipH="1">
            <a:off x="8186733" y="5517701"/>
            <a:ext cx="357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ln w="19050">
                  <a:solidFill>
                    <a:schemeClr val="accent4">
                      <a:lumMod val="75000"/>
                      <a:alpha val="50000"/>
                    </a:schemeClr>
                  </a:solidFill>
                  <a:prstDash val="solid"/>
                  <a:miter lim="800000"/>
                </a:ln>
                <a:solidFill>
                  <a:schemeClr val="accent4">
                    <a:lumMod val="20000"/>
                    <a:lumOff val="80000"/>
                    <a:alpha val="25000"/>
                  </a:schemeClr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?</a:t>
            </a:r>
            <a:endParaRPr lang="en-US" sz="4000" b="1" dirty="0">
              <a:ln w="19050">
                <a:solidFill>
                  <a:schemeClr val="accent4">
                    <a:lumMod val="75000"/>
                    <a:alpha val="50000"/>
                  </a:schemeClr>
                </a:solidFill>
                <a:prstDash val="solid"/>
                <a:miter lim="800000"/>
              </a:ln>
              <a:solidFill>
                <a:schemeClr val="accent4">
                  <a:lumMod val="20000"/>
                  <a:lumOff val="80000"/>
                  <a:alpha val="25000"/>
                </a:schemeClr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4" name="TextBox 23">
            <a:hlinkClick r:id="rId17" tooltip="Free C# Programming Book by Svetlin Nakov - безплатна C# книга от Светлин Наков, книга C#, книга Java, безплатна книга"/>
          </p:cNvPr>
          <p:cNvSpPr txBox="1"/>
          <p:nvPr userDrawn="1"/>
        </p:nvSpPr>
        <p:spPr>
          <a:xfrm rot="15426793" flipH="1">
            <a:off x="1145826" y="4072253"/>
            <a:ext cx="369652" cy="76944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400" dirty="0" smtClean="0">
                <a:ln>
                  <a:solidFill>
                    <a:schemeClr val="accent2">
                      <a:lumMod val="40000"/>
                      <a:lumOff val="60000"/>
                    </a:schemeClr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400" dirty="0"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5" name="TextBox 24">
            <a:hlinkClick r:id="rId18" tooltip="Дончо Минков - сайт за програмиране"/>
          </p:cNvPr>
          <p:cNvSpPr txBox="1"/>
          <p:nvPr userDrawn="1"/>
        </p:nvSpPr>
        <p:spPr>
          <a:xfrm rot="11071760" flipH="1">
            <a:off x="6518175" y="1140358"/>
            <a:ext cx="345408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2800" dirty="0" smtClean="0">
                <a:ln>
                  <a:solidFill>
                    <a:schemeClr val="tx1">
                      <a:lumMod val="75000"/>
                    </a:schemeClr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2800" dirty="0">
              <a:ln>
                <a:solidFill>
                  <a:schemeClr val="tx1">
                    <a:lumMod val="75000"/>
                  </a:schemeClr>
                </a:solidFill>
              </a:ln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6" name="TextBox 25">
            <a:hlinkClick r:id="rId19" tooltip="Николай Костов - блог за програмиране"/>
          </p:cNvPr>
          <p:cNvSpPr txBox="1"/>
          <p:nvPr userDrawn="1"/>
        </p:nvSpPr>
        <p:spPr>
          <a:xfrm rot="300526" flipH="1">
            <a:off x="3902297" y="1278821"/>
            <a:ext cx="345408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2800" b="1" dirty="0" smtClean="0">
                <a:ln w="31550" cmpd="sng">
                  <a:solidFill>
                    <a:schemeClr val="tx2">
                      <a:lumMod val="20000"/>
                      <a:lumOff val="80000"/>
                    </a:schemeClr>
                  </a:solidFill>
                  <a:prstDash val="solid"/>
                </a:ln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?</a:t>
            </a:r>
            <a:endParaRPr lang="en-US" sz="2800" dirty="0">
              <a:ln w="31550" cmpd="sng">
                <a:solidFill>
                  <a:schemeClr val="tx2">
                    <a:lumMod val="20000"/>
                    <a:lumOff val="80000"/>
                  </a:schemeClr>
                </a:solidFill>
                <a:prstDash val="solid"/>
              </a:ln>
              <a:solidFill>
                <a:schemeClr val="tx1">
                  <a:lumMod val="20000"/>
                  <a:lumOff val="8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7" name="TextBox 26">
            <a:hlinkClick r:id="rId20" tooltip="C# курс - програмиране, уроци, видео, лекции от Наков"/>
          </p:cNvPr>
          <p:cNvSpPr txBox="1"/>
          <p:nvPr userDrawn="1"/>
        </p:nvSpPr>
        <p:spPr>
          <a:xfrm rot="2086872" flipH="1">
            <a:off x="8330354" y="1359227"/>
            <a:ext cx="444390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200" dirty="0" smtClean="0"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200" dirty="0"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8" name="Rectangle 27"/>
          <p:cNvSpPr/>
          <p:nvPr userDrawn="1"/>
        </p:nvSpPr>
        <p:spPr>
          <a:xfrm>
            <a:off x="1828800" y="2903716"/>
            <a:ext cx="5486400" cy="1261884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lvl="0" indent="0" algn="ctr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7600" b="1" spc="150" noProof="0" dirty="0" smtClean="0">
                <a:ln w="11430"/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rPr>
              <a:t>Questions?</a:t>
            </a:r>
            <a:endParaRPr lang="en-US" sz="7600" b="1" spc="150" dirty="0">
              <a:ln w="11430"/>
              <a:solidFill>
                <a:schemeClr val="tx1">
                  <a:lumMod val="40000"/>
                  <a:lumOff val="6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+mn-lt"/>
            </a:endParaRPr>
          </a:p>
        </p:txBody>
      </p:sp>
      <p:sp>
        <p:nvSpPr>
          <p:cNvPr id="29" name="Text Placeholder 29"/>
          <p:cNvSpPr>
            <a:spLocks noGrp="1"/>
          </p:cNvSpPr>
          <p:nvPr>
            <p:ph type="body" sz="quarter" idx="10" hasCustomPrompt="1"/>
          </p:nvPr>
        </p:nvSpPr>
        <p:spPr>
          <a:xfrm>
            <a:off x="6807131" y="6400800"/>
            <a:ext cx="2218556" cy="369332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 smtClean="0"/>
              <a:t>Course web site URL</a:t>
            </a:r>
            <a:endParaRPr lang="en-US" dirty="0"/>
          </a:p>
        </p:txBody>
      </p:sp>
      <p:sp>
        <p:nvSpPr>
          <p:cNvPr id="10" name="TextBox 9">
            <a:hlinkClick r:id="rId3" tooltip="Курсове и уроци по програмиране, уеб дизайн, разработка на софтуер и информационни технологии - лекции, видео уроци, обучения - безплатно"/>
          </p:cNvPr>
          <p:cNvSpPr txBox="1"/>
          <p:nvPr userDrawn="1"/>
        </p:nvSpPr>
        <p:spPr>
          <a:xfrm rot="2456848" flipH="1">
            <a:off x="968763" y="4970087"/>
            <a:ext cx="859648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>
              <a:lnSpc>
                <a:spcPct val="80000"/>
              </a:lnSpc>
            </a:pPr>
            <a:r>
              <a:rPr lang="en-US" sz="12000" b="1" dirty="0" smtClean="0">
                <a:solidFill>
                  <a:srgbClr val="FFBF8B"/>
                </a:solidFill>
                <a:effectLst>
                  <a:reflection blurRad="6350" stA="55000" endA="300" endPos="45500" dir="5400000" sy="-100000" algn="bl" rotWithShape="0"/>
                </a:effectLst>
                <a:latin typeface="Cambria" pitchFamily="18" charset="0"/>
              </a:rPr>
              <a:t>?</a:t>
            </a:r>
            <a:endParaRPr lang="en-US" sz="12000" b="1" dirty="0">
              <a:solidFill>
                <a:srgbClr val="FFBF8B"/>
              </a:solidFill>
              <a:effectLst>
                <a:reflection blurRad="6350" stA="55000" endA="300" endPos="45500" dir="5400000" sy="-100000" algn="bl" rotWithShape="0"/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microsoft.com/office/2007/relationships/hdphoto" Target="../media/hdphoto1.wdp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"/>
          <p:cNvPicPr>
            <a:picLocks noChangeAspect="1" noChangeArrowheads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00"/>
            <a:ext cx="9144000" cy="5907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" name="Picture 2"/>
          <p:cNvPicPr>
            <a:picLocks noChangeAspect="1" noChangeArrowheads="1"/>
          </p:cNvPicPr>
          <p:nvPr userDrawn="1"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247650"/>
            <a:ext cx="9144000" cy="4833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52400" y="228600"/>
            <a:ext cx="1714500" cy="428625"/>
          </a:xfrm>
          <a:prstGeom prst="rect">
            <a:avLst/>
          </a:prstGeom>
          <a:noFill/>
          <a:effectLst>
            <a:outerShdw blurRad="127000" sx="101000" sy="101000" algn="ctr" rotWithShape="0">
              <a:schemeClr val="tx1">
                <a:lumMod val="20000"/>
                <a:lumOff val="80000"/>
                <a:alpha val="75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701" r:id="rId1"/>
    <p:sldLayoutId id="2147483688" r:id="rId2"/>
    <p:sldLayoutId id="2147483704" r:id="rId3"/>
    <p:sldLayoutId id="2147483689" r:id="rId4"/>
    <p:sldLayoutId id="2147483703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r" rtl="0" eaLnBrk="0" fontAlgn="base" hangingPunct="0">
        <a:lnSpc>
          <a:spcPts val="4400"/>
        </a:lnSpc>
        <a:spcBef>
          <a:spcPct val="0"/>
        </a:spcBef>
        <a:spcAft>
          <a:spcPct val="0"/>
        </a:spcAft>
        <a:defRPr sz="4400" b="1" kern="1200" baseline="0">
          <a:ln w="500">
            <a:noFill/>
          </a:ln>
          <a:solidFill>
            <a:schemeClr val="tx2"/>
          </a:solidFill>
          <a:effectLst>
            <a:outerShdw blurRad="38100" dist="38100" dir="2700000" algn="tl">
              <a:srgbClr val="000000">
                <a:alpha val="43137"/>
              </a:srgbClr>
            </a:outerShdw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9pPr>
    </p:titleStyle>
    <p:bodyStyle>
      <a:lvl1pPr marL="319088" indent="-319088" algn="l" rtl="0" eaLnBrk="0" fontAlgn="base" hangingPunct="0">
        <a:spcBef>
          <a:spcPct val="20000"/>
        </a:spcBef>
        <a:spcAft>
          <a:spcPct val="0"/>
        </a:spcAft>
        <a:buClr>
          <a:schemeClr val="accent5">
            <a:lumMod val="40000"/>
            <a:lumOff val="60000"/>
          </a:schemeClr>
        </a:buClr>
        <a:buSzPct val="70000"/>
        <a:buFont typeface="Wingdings 2" pitchFamily="18" charset="2"/>
        <a:buChar char=""/>
        <a:defRPr sz="32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1pPr>
      <a:lvl2pPr marL="630238" indent="-273050" algn="l" rtl="0" eaLnBrk="0" fontAlgn="base" hangingPunct="0">
        <a:spcBef>
          <a:spcPct val="20000"/>
        </a:spcBef>
        <a:spcAft>
          <a:spcPct val="0"/>
        </a:spcAft>
        <a:buClr>
          <a:schemeClr val="accent2">
            <a:lumMod val="60000"/>
            <a:lumOff val="40000"/>
          </a:schemeClr>
        </a:buClr>
        <a:buFont typeface="Wingdings 2" pitchFamily="18" charset="2"/>
        <a:buChar char=""/>
        <a:defRPr sz="30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2pPr>
      <a:lvl3pPr marL="922338" indent="-273050" algn="l" rtl="0" eaLnBrk="0" fontAlgn="base" hangingPunct="0">
        <a:spcBef>
          <a:spcPct val="20000"/>
        </a:spcBef>
        <a:spcAft>
          <a:spcPct val="0"/>
        </a:spcAft>
        <a:buClr>
          <a:schemeClr val="tx1">
            <a:lumMod val="50000"/>
          </a:schemeClr>
        </a:buClr>
        <a:buFont typeface="Wingdings 2" pitchFamily="18" charset="2"/>
        <a:buChar char=""/>
        <a:defRPr sz="28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3pPr>
      <a:lvl4pPr marL="1187450" indent="-228600" algn="l" rtl="0" eaLnBrk="0" fontAlgn="base" hangingPunct="0">
        <a:spcBef>
          <a:spcPct val="20000"/>
        </a:spcBef>
        <a:spcAft>
          <a:spcPct val="0"/>
        </a:spcAft>
        <a:buClr>
          <a:srgbClr val="F8BD52"/>
        </a:buClr>
        <a:buFont typeface="Wingdings 2" pitchFamily="18" charset="2"/>
        <a:buChar char=""/>
        <a:defRPr sz="26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4pPr>
      <a:lvl5pPr marL="1425575" indent="-228600" algn="l" rtl="0" eaLnBrk="0" fontAlgn="base" hangingPunct="0">
        <a:spcBef>
          <a:spcPct val="20000"/>
        </a:spcBef>
        <a:spcAft>
          <a:spcPct val="0"/>
        </a:spcAft>
        <a:buClr>
          <a:srgbClr val="46A6BD"/>
        </a:buClr>
        <a:buFont typeface="Wingdings 2" pitchFamily="18" charset="2"/>
        <a:buChar char=""/>
        <a:defRPr sz="24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5pPr>
      <a:lvl6pPr marL="1673352" indent="-22860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11096" indent="-228600" algn="l" rtl="0" eaLnBrk="1" latinLnBrk="0" hangingPunct="1">
        <a:spcBef>
          <a:spcPct val="20000"/>
        </a:spcBef>
        <a:buClr>
          <a:schemeClr val="tx2"/>
        </a:buClr>
        <a:buFont typeface="Wingdings 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21408" indent="-182880" algn="l" rtl="0" eaLnBrk="1" latinLnBrk="0" hangingPunct="1">
        <a:spcBef>
          <a:spcPct val="20000"/>
        </a:spcBef>
        <a:buClr>
          <a:schemeClr val="tx2"/>
        </a:buClr>
        <a:buFont typeface="Wingdings 2"/>
        <a:buChar char="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22576" indent="-182880" algn="l" rtl="0" eaLnBrk="1" latinLnBrk="0" hangingPunct="1">
        <a:spcBef>
          <a:spcPct val="20000"/>
        </a:spcBef>
        <a:buClr>
          <a:schemeClr val="tx2"/>
        </a:buClr>
        <a:buFont typeface="Wingdings 2"/>
        <a:buChar char="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://shootr.signalr.net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asp.net/signalr/overview/getting-started/upgrading-signalr-1x-projects-to-20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://schoolacademy.telerik.com/" TargetMode="Externa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hyperlink" Target="https://www.nuget.org/packages/CGWeb/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hyperlink" Target="http://facebook.com/TelerikAcademy" TargetMode="External"/><Relationship Id="rId3" Type="http://schemas.openxmlformats.org/officeDocument/2006/relationships/hyperlink" Target="http://academy.telerik.com/" TargetMode="External"/><Relationship Id="rId7" Type="http://schemas.openxmlformats.org/officeDocument/2006/relationships/image" Target="../media/image20.png"/><Relationship Id="rId2" Type="http://schemas.openxmlformats.org/officeDocument/2006/relationships/hyperlink" Target="http://csharpfundamentals.telerik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hyperlink" Target="http://forums.academy.telerik.com/" TargetMode="External"/><Relationship Id="rId10" Type="http://schemas.openxmlformats.org/officeDocument/2006/relationships/image" Target="../media/image22.png"/><Relationship Id="rId4" Type="http://schemas.openxmlformats.org/officeDocument/2006/relationships/hyperlink" Target="http://www.facebook.com/telerikacademy" TargetMode="External"/><Relationship Id="rId9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19400" y="2362200"/>
            <a:ext cx="5867400" cy="1524000"/>
          </a:xfrm>
        </p:spPr>
        <p:txBody>
          <a:bodyPr/>
          <a:lstStyle/>
          <a:p>
            <a:r>
              <a:rPr lang="en-US" dirty="0" smtClean="0"/>
              <a:t>ASP.NET </a:t>
            </a:r>
            <a:r>
              <a:rPr lang="en-US" dirty="0" err="1" smtClean="0"/>
              <a:t>SignalR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24692" y="4724400"/>
            <a:ext cx="3352800" cy="533400"/>
          </a:xfrm>
        </p:spPr>
        <p:txBody>
          <a:bodyPr/>
          <a:lstStyle/>
          <a:p>
            <a:r>
              <a:rPr lang="en-US" dirty="0" smtClean="0"/>
              <a:t>Ivaylo </a:t>
            </a:r>
            <a:r>
              <a:rPr lang="en-US" dirty="0" err="1" smtClean="0"/>
              <a:t>Kenov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458947" y="5715000"/>
            <a:ext cx="3352800" cy="369332"/>
          </a:xfrm>
        </p:spPr>
        <p:txBody>
          <a:bodyPr/>
          <a:lstStyle/>
          <a:p>
            <a:r>
              <a:rPr lang="en-US" dirty="0"/>
              <a:t>Telerik Software Academy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49859" y="5257800"/>
            <a:ext cx="3352800" cy="446276"/>
          </a:xfrm>
        </p:spPr>
        <p:txBody>
          <a:bodyPr/>
          <a:lstStyle/>
          <a:p>
            <a:pPr marL="0"/>
            <a:r>
              <a:rPr lang="en-US" dirty="0" smtClean="0"/>
              <a:t>Technical Assistant</a:t>
            </a:r>
            <a:endParaRPr lang="en-US" dirty="0"/>
          </a:p>
        </p:txBody>
      </p:sp>
      <p:pic>
        <p:nvPicPr>
          <p:cNvPr id="9" name="Picture 2" descr="http://www.davidhayden.me/media/default/posts/ASP.NET-MVC-4-Bundling-and-Minificatio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797943"/>
            <a:ext cx="3951970" cy="133565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pic>
        <p:nvPicPr>
          <p:cNvPr id="6146" name="Picture 2" descr="http://www.awdp.org/images/marketing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6580" y="4495800"/>
            <a:ext cx="2461820" cy="198120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72137" y="4572000"/>
            <a:ext cx="1816101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20463">
            <a:off x="648367" y="1055273"/>
            <a:ext cx="1919154" cy="1919154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471799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Table </a:t>
            </a:r>
            <a:r>
              <a:rPr lang="en-US" smtClean="0"/>
              <a:t>of Contents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66800"/>
            <a:ext cx="8686800" cy="5791200"/>
          </a:xfrm>
        </p:spPr>
        <p:txBody>
          <a:bodyPr/>
          <a:lstStyle/>
          <a:p>
            <a:r>
              <a:rPr lang="en-US" dirty="0" smtClean="0"/>
              <a:t>Web-based </a:t>
            </a:r>
            <a:r>
              <a:rPr lang="en-US" dirty="0"/>
              <a:t>real-time communication </a:t>
            </a:r>
            <a:endParaRPr lang="en-US" dirty="0" smtClean="0"/>
          </a:p>
          <a:p>
            <a:pPr lvl="1"/>
            <a:r>
              <a:rPr lang="en-US" dirty="0" smtClean="0"/>
              <a:t>Problems and solutions</a:t>
            </a:r>
            <a:endParaRPr lang="en-US" dirty="0"/>
          </a:p>
          <a:p>
            <a:r>
              <a:rPr lang="en-US" dirty="0" smtClean="0"/>
              <a:t>ASP.NET </a:t>
            </a:r>
            <a:r>
              <a:rPr lang="en-US" dirty="0" err="1"/>
              <a:t>SignalR</a:t>
            </a:r>
            <a:r>
              <a:rPr lang="en-US" dirty="0"/>
              <a:t> </a:t>
            </a:r>
            <a:r>
              <a:rPr lang="en-US" b="0" dirty="0" smtClean="0"/>
              <a:t>- </a:t>
            </a:r>
            <a:r>
              <a:rPr lang="en-US" dirty="0" smtClean="0"/>
              <a:t>Overview </a:t>
            </a:r>
            <a:r>
              <a:rPr lang="en-US" dirty="0"/>
              <a:t>&amp; </a:t>
            </a:r>
            <a:r>
              <a:rPr lang="en-US" dirty="0" smtClean="0"/>
              <a:t>concepts</a:t>
            </a:r>
            <a:endParaRPr lang="en-US" dirty="0"/>
          </a:p>
          <a:p>
            <a:r>
              <a:rPr lang="en-US" dirty="0"/>
              <a:t>Hubs </a:t>
            </a:r>
            <a:endParaRPr lang="en-US" dirty="0" smtClean="0"/>
          </a:p>
          <a:p>
            <a:pPr lvl="1"/>
            <a:r>
              <a:rPr lang="en-US" dirty="0" smtClean="0"/>
              <a:t>Server-side </a:t>
            </a:r>
            <a:r>
              <a:rPr lang="en-US" dirty="0"/>
              <a:t>API </a:t>
            </a:r>
          </a:p>
          <a:p>
            <a:r>
              <a:rPr lang="en-US" dirty="0" smtClean="0"/>
              <a:t>Clients </a:t>
            </a:r>
          </a:p>
          <a:p>
            <a:pPr lvl="1"/>
            <a:r>
              <a:rPr lang="en-US" dirty="0" smtClean="0"/>
              <a:t>Client-side </a:t>
            </a:r>
            <a:r>
              <a:rPr lang="en-US" dirty="0"/>
              <a:t>API </a:t>
            </a:r>
          </a:p>
          <a:p>
            <a:r>
              <a:rPr lang="en-US" dirty="0" smtClean="0"/>
              <a:t>Chat Live Demo</a:t>
            </a:r>
            <a:endParaRPr lang="en-US" dirty="0"/>
          </a:p>
          <a:p>
            <a:pPr lvl="1"/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pic>
        <p:nvPicPr>
          <p:cNvPr id="5" name="Picture 5" descr="C:\Users\nkostov\Desktop\Untitl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502284">
            <a:off x="4618399" y="3439981"/>
            <a:ext cx="4482227" cy="373518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2871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066800"/>
            <a:ext cx="7924800" cy="685800"/>
          </a:xfrm>
        </p:spPr>
        <p:txBody>
          <a:bodyPr/>
          <a:lstStyle/>
          <a:p>
            <a:r>
              <a:rPr lang="en-US" dirty="0" smtClean="0"/>
              <a:t>Web based real-time communication</a:t>
            </a:r>
            <a:endParaRPr lang="en-US" dirty="0"/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533400" y="2133600"/>
            <a:ext cx="7924800" cy="569120"/>
          </a:xfrm>
        </p:spPr>
        <p:txBody>
          <a:bodyPr/>
          <a:lstStyle/>
          <a:p>
            <a:r>
              <a:rPr lang="en-US" dirty="0" smtClean="0"/>
              <a:t>Now, now and now!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1376" y="2901892"/>
            <a:ext cx="3498537" cy="2541975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538424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Problems &amp; Solutions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791200"/>
          </a:xfrm>
        </p:spPr>
        <p:txBody>
          <a:bodyPr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 smtClean="0"/>
              <a:t>Users </a:t>
            </a:r>
            <a:r>
              <a:rPr lang="en-US" dirty="0"/>
              <a:t>want data </a:t>
            </a:r>
            <a:endParaRPr lang="en-US" b="0" dirty="0"/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 smtClean="0"/>
              <a:t>Now </a:t>
            </a:r>
            <a:r>
              <a:rPr lang="en-US" dirty="0"/>
              <a:t>&amp; instant 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Up-to-date</a:t>
            </a:r>
            <a:r>
              <a:rPr lang="en-US" b="0" dirty="0"/>
              <a:t> 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Delivered to any device, over any connection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 smtClean="0"/>
              <a:t>Examples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 smtClean="0"/>
              <a:t>Live </a:t>
            </a:r>
            <a:r>
              <a:rPr lang="en-US" dirty="0"/>
              <a:t>searches/updates 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 smtClean="0"/>
              <a:t>Stock </a:t>
            </a:r>
            <a:r>
              <a:rPr lang="en-US" dirty="0"/>
              <a:t>streamers, auctions 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 smtClean="0"/>
              <a:t>Live </a:t>
            </a:r>
            <a:r>
              <a:rPr lang="en-US" dirty="0"/>
              <a:t>scores, betting, interactive games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 smtClean="0"/>
              <a:t>Real-time </a:t>
            </a:r>
            <a:r>
              <a:rPr lang="en-US" dirty="0"/>
              <a:t>feedback, real-time notifications </a:t>
            </a:r>
            <a:endParaRPr lang="en-US" b="0" dirty="0"/>
          </a:p>
          <a:p>
            <a:pPr marL="0" indent="0">
              <a:buNone/>
            </a:pPr>
            <a:endParaRPr lang="en-US" b="0" dirty="0"/>
          </a:p>
          <a:p>
            <a:endParaRPr lang="en-US" dirty="0" smtClean="0"/>
          </a:p>
          <a:p>
            <a:endParaRPr lang="en-US" b="0" dirty="0"/>
          </a:p>
          <a:p>
            <a:endParaRPr lang="en-US" b="0" dirty="0"/>
          </a:p>
          <a:p>
            <a:pPr lvl="1"/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9055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Problems &amp; Solutions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57712"/>
            <a:ext cx="8686800" cy="5791200"/>
          </a:xfrm>
        </p:spPr>
        <p:txBody>
          <a:bodyPr/>
          <a:lstStyle/>
          <a:p>
            <a:r>
              <a:rPr lang="en-US" dirty="0" smtClean="0"/>
              <a:t>Developers need to </a:t>
            </a:r>
            <a:r>
              <a:rPr lang="en-US" dirty="0"/>
              <a:t>provide real time data </a:t>
            </a:r>
            <a:endParaRPr lang="en-US" dirty="0" smtClean="0"/>
          </a:p>
          <a:p>
            <a:pPr lvl="1"/>
            <a:r>
              <a:rPr lang="en-US" dirty="0" smtClean="0"/>
              <a:t>But </a:t>
            </a:r>
            <a:r>
              <a:rPr lang="en-US" dirty="0"/>
              <a:t>not only for web applications </a:t>
            </a:r>
          </a:p>
          <a:p>
            <a:pPr lvl="1"/>
            <a:r>
              <a:rPr lang="en-US" dirty="0"/>
              <a:t>What about mobile devices &amp; apps? </a:t>
            </a:r>
          </a:p>
          <a:p>
            <a:pPr lvl="1"/>
            <a:r>
              <a:rPr lang="en-US" dirty="0"/>
              <a:t>What about traditional desktop applications? </a:t>
            </a:r>
          </a:p>
          <a:p>
            <a:pPr lvl="1"/>
            <a:r>
              <a:rPr lang="en-US" dirty="0"/>
              <a:t>What about server-to-server? </a:t>
            </a:r>
          </a:p>
          <a:p>
            <a:r>
              <a:rPr lang="en-US" dirty="0" smtClean="0"/>
              <a:t>Push communication </a:t>
            </a:r>
            <a:r>
              <a:rPr lang="en-US" dirty="0"/>
              <a:t>beyond the web is a </a:t>
            </a:r>
            <a:r>
              <a:rPr lang="en-US" dirty="0" smtClean="0"/>
              <a:t>need</a:t>
            </a:r>
          </a:p>
          <a:p>
            <a:r>
              <a:rPr lang="en-US" dirty="0" smtClean="0"/>
              <a:t>Think</a:t>
            </a:r>
            <a:r>
              <a:rPr lang="en-US" dirty="0"/>
              <a:t>, design &amp; implement Push Services </a:t>
            </a:r>
            <a:endParaRPr lang="en-US" b="0" dirty="0"/>
          </a:p>
          <a:p>
            <a:pPr marL="0" indent="0">
              <a:buNone/>
            </a:pPr>
            <a:endParaRPr lang="en-US" b="0" dirty="0"/>
          </a:p>
          <a:p>
            <a:endParaRPr lang="en-US" dirty="0" smtClean="0"/>
          </a:p>
          <a:p>
            <a:endParaRPr lang="en-US" b="0" dirty="0"/>
          </a:p>
          <a:p>
            <a:endParaRPr lang="en-US" b="0" dirty="0"/>
          </a:p>
          <a:p>
            <a:pPr lvl="1"/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927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066800"/>
            <a:ext cx="7924800" cy="685800"/>
          </a:xfrm>
        </p:spPr>
        <p:txBody>
          <a:bodyPr/>
          <a:lstStyle/>
          <a:p>
            <a:r>
              <a:rPr lang="en-US" dirty="0" smtClean="0"/>
              <a:t>Push Services Pattern</a:t>
            </a:r>
            <a:endParaRPr lang="en-US" dirty="0"/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533400" y="1828800"/>
            <a:ext cx="7924800" cy="569120"/>
          </a:xfrm>
        </p:spPr>
        <p:txBody>
          <a:bodyPr/>
          <a:lstStyle/>
          <a:p>
            <a:r>
              <a:rPr lang="en-US" dirty="0" smtClean="0"/>
              <a:t>Not official of course!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4483" y="2590101"/>
            <a:ext cx="5029200" cy="3347561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727819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Push Services Pattern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791200"/>
          </a:xfrm>
        </p:spPr>
        <p:txBody>
          <a:bodyPr/>
          <a:lstStyle/>
          <a:p>
            <a:r>
              <a:rPr lang="en-US" dirty="0" smtClean="0"/>
              <a:t>Push Services are not an official pattern</a:t>
            </a:r>
          </a:p>
          <a:p>
            <a:r>
              <a:rPr lang="en-US" dirty="0" smtClean="0"/>
              <a:t>Model </a:t>
            </a:r>
            <a:r>
              <a:rPr lang="en-US" dirty="0"/>
              <a:t>a service that </a:t>
            </a:r>
            <a:endParaRPr lang="en-US" dirty="0" smtClean="0"/>
          </a:p>
          <a:p>
            <a:pPr lvl="1"/>
            <a:r>
              <a:rPr lang="en-US" dirty="0" smtClean="0"/>
              <a:t>accepts </a:t>
            </a:r>
            <a:r>
              <a:rPr lang="en-US" dirty="0"/>
              <a:t>incoming connections from callers </a:t>
            </a:r>
          </a:p>
          <a:p>
            <a:pPr lvl="1"/>
            <a:r>
              <a:rPr lang="en-US" dirty="0"/>
              <a:t>is able to push data down to callers </a:t>
            </a:r>
          </a:p>
          <a:p>
            <a:pPr lvl="1"/>
            <a:r>
              <a:rPr lang="en-US" dirty="0"/>
              <a:t>abstracts from communication </a:t>
            </a:r>
            <a:r>
              <a:rPr lang="en-US" dirty="0" smtClean="0"/>
              <a:t>only details </a:t>
            </a:r>
            <a:endParaRPr lang="en-US" dirty="0"/>
          </a:p>
          <a:p>
            <a:endParaRPr lang="en-US" b="0" dirty="0" smtClean="0"/>
          </a:p>
          <a:p>
            <a:pPr marL="0" indent="0">
              <a:buNone/>
            </a:pPr>
            <a:endParaRPr lang="en-US" b="0" dirty="0" smtClean="0"/>
          </a:p>
          <a:p>
            <a:endParaRPr lang="en-US" dirty="0" smtClean="0"/>
          </a:p>
          <a:p>
            <a:endParaRPr lang="en-US" b="0" dirty="0" smtClean="0"/>
          </a:p>
          <a:p>
            <a:endParaRPr lang="en-US" b="0" dirty="0" smtClean="0"/>
          </a:p>
          <a:p>
            <a:pPr lvl="1"/>
            <a:endParaRPr lang="en-US" b="0" dirty="0" smtClean="0"/>
          </a:p>
          <a:p>
            <a:endParaRPr lang="en-US" b="0" dirty="0" smtClean="0"/>
          </a:p>
          <a:p>
            <a:endParaRPr lang="en-US" b="0" dirty="0" smtClean="0"/>
          </a:p>
          <a:p>
            <a:endParaRPr lang="en-US" b="0" dirty="0" smtClean="0"/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61"/>
          <a:stretch/>
        </p:blipFill>
        <p:spPr>
          <a:xfrm>
            <a:off x="1447800" y="4114800"/>
            <a:ext cx="6096000" cy="2025941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014226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HTTP Protocol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791200"/>
          </a:xfrm>
        </p:spPr>
        <p:txBody>
          <a:bodyPr/>
          <a:lstStyle/>
          <a:p>
            <a:r>
              <a:rPr lang="en-US" dirty="0" smtClean="0"/>
              <a:t>Web communication – HTTP!</a:t>
            </a:r>
          </a:p>
          <a:p>
            <a:r>
              <a:rPr lang="en-US" dirty="0" smtClean="0"/>
              <a:t>Basically request-response</a:t>
            </a:r>
          </a:p>
          <a:p>
            <a:r>
              <a:rPr lang="en-US" dirty="0" smtClean="0"/>
              <a:t>Realize Push services with HTTP</a:t>
            </a:r>
          </a:p>
          <a:p>
            <a:pPr lvl="1"/>
            <a:r>
              <a:rPr lang="en-US" dirty="0" smtClean="0"/>
              <a:t>Periodic </a:t>
            </a:r>
            <a:r>
              <a:rPr lang="en-US" dirty="0"/>
              <a:t>Polling </a:t>
            </a:r>
            <a:endParaRPr lang="en-US" b="0" dirty="0"/>
          </a:p>
          <a:p>
            <a:pPr lvl="1"/>
            <a:r>
              <a:rPr lang="en-US" dirty="0"/>
              <a:t>Long </a:t>
            </a:r>
            <a:r>
              <a:rPr lang="en-US" dirty="0" smtClean="0"/>
              <a:t>Polling</a:t>
            </a:r>
            <a:endParaRPr lang="en-US" b="0" dirty="0"/>
          </a:p>
          <a:p>
            <a:pPr lvl="1"/>
            <a:r>
              <a:rPr lang="en-US" dirty="0" smtClean="0"/>
              <a:t>Forever </a:t>
            </a:r>
            <a:r>
              <a:rPr lang="en-US" dirty="0"/>
              <a:t>Frame </a:t>
            </a:r>
            <a:endParaRPr lang="en-US" b="0" dirty="0"/>
          </a:p>
          <a:p>
            <a:pPr lvl="1"/>
            <a:r>
              <a:rPr lang="en-US" dirty="0"/>
              <a:t>Server-Sent Events (SSE) </a:t>
            </a:r>
            <a:endParaRPr lang="en-US" b="0" dirty="0"/>
          </a:p>
          <a:p>
            <a:pPr lvl="1"/>
            <a:r>
              <a:rPr lang="en-US" dirty="0"/>
              <a:t>Web Sockets </a:t>
            </a:r>
            <a:endParaRPr lang="en-US" b="0" dirty="0"/>
          </a:p>
          <a:p>
            <a:endParaRPr lang="en-US" dirty="0"/>
          </a:p>
          <a:p>
            <a:endParaRPr lang="en-US" b="0" dirty="0" smtClean="0"/>
          </a:p>
          <a:p>
            <a:pPr marL="0" indent="0">
              <a:buNone/>
            </a:pPr>
            <a:endParaRPr lang="en-US" b="0" dirty="0" smtClean="0"/>
          </a:p>
          <a:p>
            <a:endParaRPr lang="en-US" dirty="0" smtClean="0"/>
          </a:p>
          <a:p>
            <a:endParaRPr lang="en-US" b="0" dirty="0" smtClean="0"/>
          </a:p>
          <a:p>
            <a:endParaRPr lang="en-US" b="0" dirty="0" smtClean="0"/>
          </a:p>
          <a:p>
            <a:pPr lvl="1"/>
            <a:endParaRPr lang="en-US" b="0" dirty="0" smtClean="0"/>
          </a:p>
          <a:p>
            <a:endParaRPr lang="en-US" b="0" dirty="0" smtClean="0"/>
          </a:p>
          <a:p>
            <a:endParaRPr lang="en-US" b="0" dirty="0" smtClean="0"/>
          </a:p>
          <a:p>
            <a:endParaRPr lang="en-US" b="0" dirty="0" smtClean="0"/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78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Sockets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791200"/>
          </a:xfrm>
        </p:spPr>
        <p:txBody>
          <a:bodyPr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dirty="0" smtClean="0"/>
              <a:t>Web Sockets – latest piece of technology!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dirty="0" smtClean="0"/>
              <a:t>Positives:</a:t>
            </a: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lang="en-US" dirty="0" smtClean="0"/>
              <a:t>Easy</a:t>
            </a: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lang="en-US" dirty="0" smtClean="0"/>
              <a:t>Constant connection</a:t>
            </a: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lang="en-US" dirty="0" smtClean="0"/>
              <a:t>Send only small details</a:t>
            </a:r>
            <a:endParaRPr lang="en-US" dirty="0"/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dirty="0" smtClean="0"/>
              <a:t>Negatives</a:t>
            </a: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lang="en-US" dirty="0" smtClean="0"/>
              <a:t>Only </a:t>
            </a:r>
            <a:r>
              <a:rPr lang="en-US" dirty="0"/>
              <a:t>with Windows 8/Server 2012 </a:t>
            </a: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lang="en-US" dirty="0" smtClean="0"/>
              <a:t>Network </a:t>
            </a:r>
            <a:r>
              <a:rPr lang="en-US" dirty="0"/>
              <a:t>considerations </a:t>
            </a: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lang="en-US" dirty="0" smtClean="0"/>
              <a:t>Maybe </a:t>
            </a:r>
            <a:r>
              <a:rPr lang="en-US" dirty="0"/>
              <a:t>some time, but not today </a:t>
            </a:r>
          </a:p>
          <a:p>
            <a:endParaRPr lang="en-US" b="0" dirty="0"/>
          </a:p>
          <a:p>
            <a:pPr lvl="1"/>
            <a:endParaRPr lang="en-US" dirty="0"/>
          </a:p>
          <a:p>
            <a:endParaRPr lang="en-US" b="0" dirty="0" smtClean="0"/>
          </a:p>
          <a:p>
            <a:pPr marL="0" indent="0">
              <a:buNone/>
            </a:pPr>
            <a:endParaRPr lang="en-US" b="0" dirty="0" smtClean="0"/>
          </a:p>
          <a:p>
            <a:endParaRPr lang="en-US" dirty="0" smtClean="0"/>
          </a:p>
          <a:p>
            <a:endParaRPr lang="en-US" b="0" dirty="0" smtClean="0"/>
          </a:p>
          <a:p>
            <a:endParaRPr lang="en-US" b="0" dirty="0" smtClean="0"/>
          </a:p>
          <a:p>
            <a:pPr lvl="1"/>
            <a:endParaRPr lang="en-US" b="0" dirty="0" smtClean="0"/>
          </a:p>
          <a:p>
            <a:endParaRPr lang="en-US" b="0" dirty="0" smtClean="0"/>
          </a:p>
          <a:p>
            <a:endParaRPr lang="en-US" b="0" dirty="0" smtClean="0"/>
          </a:p>
          <a:p>
            <a:endParaRPr lang="en-US" b="0" dirty="0" smtClean="0"/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9954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09600" y="2819400"/>
            <a:ext cx="7924800" cy="685800"/>
          </a:xfrm>
        </p:spPr>
        <p:txBody>
          <a:bodyPr/>
          <a:lstStyle/>
          <a:p>
            <a:r>
              <a:rPr lang="en-US" dirty="0" smtClean="0"/>
              <a:t>Web Sockets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304800" y="3581400"/>
            <a:ext cx="8534400" cy="457200"/>
          </a:xfrm>
        </p:spPr>
        <p:txBody>
          <a:bodyPr/>
          <a:lstStyle/>
          <a:p>
            <a:r>
              <a:rPr lang="en-US" dirty="0" smtClean="0"/>
              <a:t>Live 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542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066800"/>
            <a:ext cx="7924800" cy="685800"/>
          </a:xfrm>
        </p:spPr>
        <p:txBody>
          <a:bodyPr/>
          <a:lstStyle/>
          <a:p>
            <a:r>
              <a:rPr lang="en-US" dirty="0" err="1" smtClean="0"/>
              <a:t>SignalR</a:t>
            </a:r>
            <a:r>
              <a:rPr lang="en-US" dirty="0" smtClean="0"/>
              <a:t> Solution</a:t>
            </a:r>
            <a:endParaRPr lang="en-US" dirty="0"/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533400" y="1828800"/>
            <a:ext cx="7924800" cy="569120"/>
          </a:xfrm>
        </p:spPr>
        <p:txBody>
          <a:bodyPr/>
          <a:lstStyle/>
          <a:p>
            <a:r>
              <a:rPr lang="en-US" dirty="0" smtClean="0"/>
              <a:t>Part of ASP.NET but not tied to it!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2438400"/>
            <a:ext cx="4800600" cy="3532214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681144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SignalR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791200"/>
          </a:xfrm>
        </p:spPr>
        <p:txBody>
          <a:bodyPr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dirty="0" err="1" smtClean="0"/>
              <a:t>SignalR</a:t>
            </a:r>
            <a:r>
              <a:rPr lang="en-US" dirty="0" smtClean="0"/>
              <a:t> is:</a:t>
            </a: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lang="en-US" dirty="0" smtClean="0"/>
              <a:t>A </a:t>
            </a:r>
            <a:r>
              <a:rPr lang="en-US" dirty="0"/>
              <a:t>server-side framework to write push </a:t>
            </a:r>
            <a:r>
              <a:rPr lang="en-US" dirty="0" smtClean="0"/>
              <a:t>services</a:t>
            </a: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lang="en-US" dirty="0" smtClean="0"/>
              <a:t>Clients for easy communication on any device</a:t>
            </a: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lang="en-US" dirty="0" smtClean="0"/>
              <a:t>Optimized for asynchronous operations</a:t>
            </a:r>
            <a:endParaRPr lang="en-US" dirty="0"/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dirty="0" smtClean="0"/>
              <a:t>Operation:</a:t>
            </a: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lang="en-US" dirty="0" smtClean="0"/>
              <a:t>Persistent connection</a:t>
            </a: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lang="en-US" dirty="0" smtClean="0"/>
              <a:t>Data is sent as signal through connection ID</a:t>
            </a: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lang="en-US" dirty="0" smtClean="0"/>
              <a:t>Volatile, no-</a:t>
            </a:r>
            <a:r>
              <a:rPr lang="en-US" dirty="0" err="1" smtClean="0"/>
              <a:t>dirable</a:t>
            </a:r>
            <a:endParaRPr lang="en-US" dirty="0"/>
          </a:p>
          <a:p>
            <a:endParaRPr lang="en-US" b="0" dirty="0"/>
          </a:p>
          <a:p>
            <a:pPr lvl="1"/>
            <a:endParaRPr lang="en-US" dirty="0"/>
          </a:p>
          <a:p>
            <a:endParaRPr lang="en-US" b="0" dirty="0" smtClean="0"/>
          </a:p>
          <a:p>
            <a:pPr marL="0" indent="0">
              <a:buNone/>
            </a:pPr>
            <a:endParaRPr lang="en-US" b="0" dirty="0" smtClean="0"/>
          </a:p>
          <a:p>
            <a:endParaRPr lang="en-US" dirty="0" smtClean="0"/>
          </a:p>
          <a:p>
            <a:endParaRPr lang="en-US" b="0" dirty="0" smtClean="0"/>
          </a:p>
          <a:p>
            <a:endParaRPr lang="en-US" b="0" dirty="0" smtClean="0"/>
          </a:p>
          <a:p>
            <a:pPr lvl="1"/>
            <a:endParaRPr lang="en-US" b="0" dirty="0" smtClean="0"/>
          </a:p>
          <a:p>
            <a:endParaRPr lang="en-US" b="0" dirty="0" smtClean="0"/>
          </a:p>
          <a:p>
            <a:endParaRPr lang="en-US" b="0" dirty="0" smtClean="0"/>
          </a:p>
          <a:p>
            <a:endParaRPr lang="en-US" b="0" dirty="0" smtClean="0"/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332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SignalR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791200"/>
          </a:xfrm>
        </p:spPr>
        <p:txBody>
          <a:bodyPr/>
          <a:lstStyle/>
          <a:p>
            <a:r>
              <a:rPr lang="en-US" dirty="0" smtClean="0"/>
              <a:t>Framework is based on Interfaces:</a:t>
            </a:r>
          </a:p>
          <a:p>
            <a:r>
              <a:rPr lang="en-US" dirty="0" smtClean="0"/>
              <a:t>Programming modes:</a:t>
            </a:r>
          </a:p>
          <a:p>
            <a:pPr lvl="1"/>
            <a:r>
              <a:rPr lang="en-US" dirty="0" smtClean="0"/>
              <a:t>Persistent connection</a:t>
            </a:r>
          </a:p>
          <a:p>
            <a:pPr lvl="1"/>
            <a:r>
              <a:rPr lang="en-US" dirty="0" smtClean="0"/>
              <a:t>Hubs</a:t>
            </a:r>
          </a:p>
          <a:p>
            <a:r>
              <a:rPr lang="en-US" dirty="0" smtClean="0"/>
              <a:t>Hubs offer predefined API for most scenarios</a:t>
            </a:r>
            <a:endParaRPr lang="en-US" dirty="0"/>
          </a:p>
          <a:p>
            <a:r>
              <a:rPr lang="en-US" dirty="0" err="1" smtClean="0"/>
              <a:t>SignalR</a:t>
            </a:r>
            <a:r>
              <a:rPr lang="en-US" dirty="0" smtClean="0"/>
              <a:t> example:</a:t>
            </a:r>
          </a:p>
          <a:p>
            <a:pPr lvl="1"/>
            <a:r>
              <a:rPr lang="en-US" dirty="0">
                <a:hlinkClick r:id="rId2"/>
              </a:rPr>
              <a:t>http://shootr.signalr.net/</a:t>
            </a:r>
            <a:endParaRPr lang="en-US" b="0" dirty="0" smtClean="0"/>
          </a:p>
          <a:p>
            <a:pPr marL="0" indent="0">
              <a:buNone/>
            </a:pPr>
            <a:endParaRPr lang="en-US" b="0" dirty="0" smtClean="0"/>
          </a:p>
          <a:p>
            <a:endParaRPr lang="en-US" dirty="0" smtClean="0"/>
          </a:p>
          <a:p>
            <a:endParaRPr lang="en-US" b="0" dirty="0" smtClean="0"/>
          </a:p>
          <a:p>
            <a:endParaRPr lang="en-US" b="0" dirty="0" smtClean="0"/>
          </a:p>
          <a:p>
            <a:pPr lvl="1"/>
            <a:endParaRPr lang="en-US" b="0" dirty="0" smtClean="0"/>
          </a:p>
          <a:p>
            <a:endParaRPr lang="en-US" b="0" dirty="0" smtClean="0"/>
          </a:p>
          <a:p>
            <a:endParaRPr lang="en-US" b="0" dirty="0" smtClean="0"/>
          </a:p>
          <a:p>
            <a:endParaRPr lang="en-US" b="0" dirty="0" smtClean="0"/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749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SignalR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791200"/>
          </a:xfrm>
        </p:spPr>
        <p:txBody>
          <a:bodyPr/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lang="en-US" dirty="0" smtClean="0"/>
              <a:t>Packages at </a:t>
            </a:r>
            <a:r>
              <a:rPr lang="en-US" dirty="0" err="1" smtClean="0"/>
              <a:t>NuGet</a:t>
            </a:r>
            <a:r>
              <a:rPr lang="en-US" dirty="0" smtClean="0"/>
              <a:t>:</a:t>
            </a:r>
            <a:endParaRPr lang="en-US" dirty="0"/>
          </a:p>
          <a:p>
            <a:pPr lvl="1">
              <a:spcBef>
                <a:spcPts val="800"/>
              </a:spcBef>
              <a:spcAft>
                <a:spcPts val="800"/>
              </a:spcAft>
            </a:pPr>
            <a:r>
              <a:rPr lang="en-US" dirty="0" err="1" smtClean="0"/>
              <a:t>Microsoft.AspNet.SignalR</a:t>
            </a:r>
            <a:r>
              <a:rPr lang="en-US" dirty="0" smtClean="0"/>
              <a:t> </a:t>
            </a:r>
            <a:endParaRPr lang="en-US" dirty="0"/>
          </a:p>
          <a:p>
            <a:pPr lvl="1">
              <a:spcBef>
                <a:spcPts val="800"/>
              </a:spcBef>
              <a:spcAft>
                <a:spcPts val="800"/>
              </a:spcAft>
            </a:pPr>
            <a:r>
              <a:rPr lang="en-US" dirty="0" err="1"/>
              <a:t>Microsoft.AspNet.SignalR.Core</a:t>
            </a:r>
            <a:r>
              <a:rPr lang="en-US" dirty="0"/>
              <a:t> </a:t>
            </a:r>
          </a:p>
          <a:p>
            <a:pPr lvl="1">
              <a:spcBef>
                <a:spcPts val="800"/>
              </a:spcBef>
              <a:spcAft>
                <a:spcPts val="800"/>
              </a:spcAft>
            </a:pPr>
            <a:r>
              <a:rPr lang="en-US" dirty="0" err="1"/>
              <a:t>Microsoft.AspNet.SignalR.Owin</a:t>
            </a:r>
            <a:r>
              <a:rPr lang="en-US" dirty="0"/>
              <a:t> </a:t>
            </a:r>
          </a:p>
          <a:p>
            <a:pPr lvl="1">
              <a:spcBef>
                <a:spcPts val="800"/>
              </a:spcBef>
              <a:spcAft>
                <a:spcPts val="800"/>
              </a:spcAft>
            </a:pPr>
            <a:r>
              <a:rPr lang="en-US" dirty="0" err="1"/>
              <a:t>Microsoft.AspNet.SignalR.Js</a:t>
            </a:r>
            <a:r>
              <a:rPr lang="en-US" dirty="0"/>
              <a:t> </a:t>
            </a:r>
          </a:p>
          <a:p>
            <a:pPr lvl="1">
              <a:spcBef>
                <a:spcPts val="800"/>
              </a:spcBef>
              <a:spcAft>
                <a:spcPts val="800"/>
              </a:spcAft>
            </a:pPr>
            <a:r>
              <a:rPr lang="en-US" dirty="0" err="1"/>
              <a:t>Microsoft.AspNet.SignalR.Client</a:t>
            </a:r>
            <a:r>
              <a:rPr lang="en-US" dirty="0"/>
              <a:t> </a:t>
            </a:r>
          </a:p>
          <a:p>
            <a:pPr lvl="1">
              <a:spcBef>
                <a:spcPts val="800"/>
              </a:spcBef>
              <a:spcAft>
                <a:spcPts val="800"/>
              </a:spcAft>
            </a:pPr>
            <a:r>
              <a:rPr lang="en-US" dirty="0" err="1"/>
              <a:t>Microsoft.AspNet.SignalR.Utils</a:t>
            </a:r>
            <a:r>
              <a:rPr lang="en-US" dirty="0"/>
              <a:t> </a:t>
            </a:r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en-US" dirty="0" smtClean="0"/>
          </a:p>
          <a:p>
            <a:pPr marL="0" indent="0">
              <a:buNone/>
            </a:pPr>
            <a:endParaRPr lang="en-US" b="0" dirty="0" smtClean="0"/>
          </a:p>
          <a:p>
            <a:endParaRPr lang="en-US" dirty="0" smtClean="0"/>
          </a:p>
          <a:p>
            <a:endParaRPr lang="en-US" b="0" dirty="0" smtClean="0"/>
          </a:p>
          <a:p>
            <a:endParaRPr lang="en-US" b="0" dirty="0" smtClean="0"/>
          </a:p>
          <a:p>
            <a:pPr lvl="1"/>
            <a:endParaRPr lang="en-US" b="0" dirty="0" smtClean="0"/>
          </a:p>
          <a:p>
            <a:endParaRPr lang="en-US" b="0" dirty="0" smtClean="0"/>
          </a:p>
          <a:p>
            <a:endParaRPr lang="en-US" b="0" dirty="0" smtClean="0"/>
          </a:p>
          <a:p>
            <a:endParaRPr lang="en-US" b="0" dirty="0" smtClean="0"/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195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SignalR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791200"/>
          </a:xfrm>
        </p:spPr>
        <p:txBody>
          <a:bodyPr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dirty="0" smtClean="0"/>
              <a:t>Installation</a:t>
            </a:r>
            <a:endParaRPr lang="en-US" dirty="0"/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lang="en-US" dirty="0" smtClean="0"/>
              <a:t>Download </a:t>
            </a:r>
            <a:r>
              <a:rPr lang="en-US" dirty="0" err="1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Microsoft.AspNet.SignalR</a:t>
            </a:r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lang="en-US" dirty="0" smtClean="0"/>
              <a:t>In </a:t>
            </a:r>
            <a:r>
              <a:rPr lang="en-US" dirty="0" err="1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Global.asax</a:t>
            </a:r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n-US" dirty="0" smtClean="0"/>
              <a:t>register the hubs</a:t>
            </a:r>
          </a:p>
          <a:p>
            <a:pPr lvl="1">
              <a:spcBef>
                <a:spcPts val="400"/>
              </a:spcBef>
              <a:spcAft>
                <a:spcPts val="400"/>
              </a:spcAft>
            </a:pPr>
            <a:endParaRPr lang="en-US" b="0" dirty="0"/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lang="en-US" dirty="0" smtClean="0"/>
              <a:t>Create directory Hubs</a:t>
            </a: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lang="en-US" dirty="0" smtClean="0"/>
              <a:t>Add new </a:t>
            </a:r>
            <a:r>
              <a:rPr lang="en-US" dirty="0" err="1" smtClean="0"/>
              <a:t>SignalR</a:t>
            </a:r>
            <a:r>
              <a:rPr lang="en-US" dirty="0" smtClean="0"/>
              <a:t> classes to it</a:t>
            </a: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lang="en-US" dirty="0" smtClean="0"/>
              <a:t>Done!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dirty="0" smtClean="0">
                <a:hlinkClick r:id="rId2"/>
              </a:rPr>
              <a:t>To update from 1.x to 2.0</a:t>
            </a:r>
            <a:endParaRPr lang="en-US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en-US" dirty="0" smtClean="0"/>
          </a:p>
          <a:p>
            <a:pPr marL="0" indent="0">
              <a:buNone/>
            </a:pPr>
            <a:endParaRPr lang="en-US" b="0" dirty="0" smtClean="0"/>
          </a:p>
          <a:p>
            <a:endParaRPr lang="en-US" dirty="0" smtClean="0"/>
          </a:p>
          <a:p>
            <a:endParaRPr lang="en-US" b="0" dirty="0" smtClean="0"/>
          </a:p>
          <a:p>
            <a:endParaRPr lang="en-US" b="0" dirty="0" smtClean="0"/>
          </a:p>
          <a:p>
            <a:pPr lvl="1"/>
            <a:endParaRPr lang="en-US" b="0" dirty="0" smtClean="0"/>
          </a:p>
          <a:p>
            <a:endParaRPr lang="en-US" b="0" dirty="0" smtClean="0"/>
          </a:p>
          <a:p>
            <a:endParaRPr lang="en-US" b="0" dirty="0" smtClean="0"/>
          </a:p>
          <a:p>
            <a:endParaRPr lang="en-US" b="0" dirty="0" smtClean="0"/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990600" y="2743200"/>
            <a:ext cx="4876800" cy="40011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9pPr>
          </a:lstStyle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RouteTable.Routes.MapHubs();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8255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533400" y="2514600"/>
            <a:ext cx="7924800" cy="685800"/>
          </a:xfrm>
        </p:spPr>
        <p:txBody>
          <a:bodyPr/>
          <a:lstStyle/>
          <a:p>
            <a:r>
              <a:rPr lang="en-US" dirty="0" err="1" smtClean="0"/>
              <a:t>SignalR</a:t>
            </a:r>
            <a:r>
              <a:rPr lang="en-US" dirty="0" smtClean="0"/>
              <a:t> </a:t>
            </a:r>
            <a:r>
              <a:rPr lang="en-US" dirty="0" err="1" smtClean="0"/>
              <a:t>ShootR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228600" y="3276600"/>
            <a:ext cx="8534400" cy="457200"/>
          </a:xfrm>
        </p:spPr>
        <p:txBody>
          <a:bodyPr/>
          <a:lstStyle/>
          <a:p>
            <a:r>
              <a:rPr lang="en-US" dirty="0" smtClean="0"/>
              <a:t>Live 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730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066800"/>
            <a:ext cx="7924800" cy="685800"/>
          </a:xfrm>
        </p:spPr>
        <p:txBody>
          <a:bodyPr/>
          <a:lstStyle/>
          <a:p>
            <a:r>
              <a:rPr lang="en-US" dirty="0" err="1" smtClean="0"/>
              <a:t>SignalR</a:t>
            </a:r>
            <a:r>
              <a:rPr lang="en-US" dirty="0" smtClean="0"/>
              <a:t> Hubs</a:t>
            </a:r>
            <a:endParaRPr lang="en-US" dirty="0"/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533400" y="1828800"/>
            <a:ext cx="7924800" cy="569120"/>
          </a:xfrm>
        </p:spPr>
        <p:txBody>
          <a:bodyPr/>
          <a:lstStyle/>
          <a:p>
            <a:r>
              <a:rPr lang="en-US" dirty="0" smtClean="0"/>
              <a:t>Server-side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2590800"/>
            <a:ext cx="5257800" cy="3264996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979746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Hubs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791200"/>
          </a:xfrm>
        </p:spPr>
        <p:txBody>
          <a:bodyPr/>
          <a:lstStyle/>
          <a:p>
            <a:r>
              <a:rPr lang="en-US" dirty="0" smtClean="0"/>
              <a:t>Classes to implement push services</a:t>
            </a:r>
          </a:p>
          <a:p>
            <a:pPr lvl="1"/>
            <a:r>
              <a:rPr lang="en-US" dirty="0" smtClean="0"/>
              <a:t>Abstraction on top of persistent connection</a:t>
            </a:r>
          </a:p>
          <a:p>
            <a:pPr lvl="1"/>
            <a:r>
              <a:rPr lang="en-US" dirty="0" smtClean="0"/>
              <a:t>Convention over configuration</a:t>
            </a:r>
          </a:p>
          <a:p>
            <a:r>
              <a:rPr lang="en-US" dirty="0" smtClean="0"/>
              <a:t>Perfect for sending data from server to clients</a:t>
            </a:r>
          </a:p>
          <a:p>
            <a:r>
              <a:rPr lang="en-US" dirty="0" smtClean="0"/>
              <a:t>Conventions</a:t>
            </a:r>
          </a:p>
          <a:p>
            <a:pPr lvl="1"/>
            <a:r>
              <a:rPr lang="en-US" dirty="0" smtClean="0"/>
              <a:t>Public methods are callable from clients</a:t>
            </a:r>
          </a:p>
          <a:p>
            <a:pPr lvl="1"/>
            <a:r>
              <a:rPr lang="en-US" dirty="0" smtClean="0"/>
              <a:t>Send data by invoking client methods</a:t>
            </a:r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en-US" dirty="0" smtClean="0"/>
          </a:p>
          <a:p>
            <a:pPr marL="0" indent="0">
              <a:buNone/>
            </a:pPr>
            <a:endParaRPr lang="en-US" b="0" dirty="0" smtClean="0"/>
          </a:p>
          <a:p>
            <a:endParaRPr lang="en-US" dirty="0" smtClean="0"/>
          </a:p>
          <a:p>
            <a:endParaRPr lang="en-US" b="0" dirty="0" smtClean="0"/>
          </a:p>
          <a:p>
            <a:endParaRPr lang="en-US" b="0" dirty="0" smtClean="0"/>
          </a:p>
          <a:p>
            <a:pPr lvl="1"/>
            <a:endParaRPr lang="en-US" b="0" dirty="0" smtClean="0"/>
          </a:p>
          <a:p>
            <a:endParaRPr lang="en-US" b="0" dirty="0" smtClean="0"/>
          </a:p>
          <a:p>
            <a:endParaRPr lang="en-US" b="0" dirty="0" smtClean="0"/>
          </a:p>
          <a:p>
            <a:endParaRPr lang="en-US" b="0" dirty="0" smtClean="0"/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017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Hub Programming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686800" cy="5791200"/>
          </a:xfrm>
        </p:spPr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dirty="0" smtClean="0"/>
              <a:t>Hub name reflected onto external API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dirty="0" smtClean="0"/>
              <a:t>Return </a:t>
            </a:r>
            <a:r>
              <a:rPr lang="en-US" dirty="0"/>
              <a:t>simple type, complex type or Task </a:t>
            </a:r>
            <a:endParaRPr lang="en-US" b="0" dirty="0"/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dirty="0" smtClean="0"/>
              <a:t>Objects and collection – automatically to JSON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dirty="0" smtClean="0"/>
              <a:t>Context</a:t>
            </a:r>
            <a:endParaRPr lang="en-US" b="0" dirty="0"/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lang="en-US" dirty="0" err="1"/>
              <a:t>ConnectionId</a:t>
            </a:r>
            <a:r>
              <a:rPr lang="en-US" dirty="0"/>
              <a:t> 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lang="en-US" dirty="0" smtClean="0"/>
              <a:t>Request </a:t>
            </a:r>
            <a:endParaRPr lang="en-US" dirty="0"/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lang="en-US" dirty="0" smtClean="0"/>
              <a:t>Headers </a:t>
            </a:r>
            <a:endParaRPr lang="en-US" dirty="0"/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lang="en-US" dirty="0" err="1" smtClean="0"/>
              <a:t>RequestCookies</a:t>
            </a:r>
            <a:r>
              <a:rPr lang="en-US" dirty="0" smtClean="0"/>
              <a:t> </a:t>
            </a:r>
            <a:endParaRPr lang="en-US" dirty="0"/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lang="en-US" dirty="0" err="1" smtClean="0"/>
              <a:t>QueryString</a:t>
            </a:r>
            <a:r>
              <a:rPr lang="en-US" dirty="0" smtClean="0"/>
              <a:t> </a:t>
            </a:r>
            <a:endParaRPr lang="en-US" dirty="0"/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lang="en-US" dirty="0" smtClean="0"/>
              <a:t>User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0602" y="2832683"/>
            <a:ext cx="3934374" cy="3019847"/>
          </a:xfrm>
          <a:prstGeom prst="roundRect">
            <a:avLst>
              <a:gd name="adj" fmla="val 6666"/>
            </a:avLst>
          </a:prstGeom>
        </p:spPr>
      </p:pic>
    </p:spTree>
    <p:extLst>
      <p:ext uri="{BB962C8B-B14F-4D97-AF65-F5344CB8AC3E}">
        <p14:creationId xmlns:p14="http://schemas.microsoft.com/office/powerpoint/2010/main" val="401690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Hub Programming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686800" cy="5791200"/>
          </a:xfrm>
        </p:spPr>
        <p:txBody>
          <a:bodyPr/>
          <a:lstStyle/>
          <a:p>
            <a:r>
              <a:rPr lang="en-US" dirty="0" smtClean="0"/>
              <a:t>Base </a:t>
            </a:r>
            <a:r>
              <a:rPr lang="en-US" dirty="0"/>
              <a:t>endpoint is 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/</a:t>
            </a:r>
            <a:r>
              <a:rPr lang="en-US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signalr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endParaRPr lang="en-US" b="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r>
              <a:rPr lang="en-US" dirty="0" smtClean="0"/>
              <a:t>JS </a:t>
            </a:r>
            <a:r>
              <a:rPr lang="en-US" dirty="0"/>
              <a:t>metadata from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/</a:t>
            </a:r>
            <a:r>
              <a:rPr lang="en-US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signalr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/hubs </a:t>
            </a:r>
            <a:endParaRPr lang="en-US" b="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r>
              <a:rPr lang="en-US" dirty="0"/>
              <a:t>Basically two protocol steps </a:t>
            </a:r>
            <a:endParaRPr lang="en-US" dirty="0"/>
          </a:p>
          <a:p>
            <a:pPr lvl="1"/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negotiate</a:t>
            </a:r>
            <a:r>
              <a:rPr lang="en-US" dirty="0"/>
              <a:t>: which transport do you support? </a:t>
            </a:r>
            <a:endParaRPr lang="en-US" dirty="0" smtClean="0"/>
          </a:p>
          <a:p>
            <a:pPr lvl="1"/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connect</a:t>
            </a:r>
            <a:r>
              <a:rPr lang="en-US" dirty="0"/>
              <a:t>: OK, here is my persistent connection </a:t>
            </a:r>
          </a:p>
          <a:p>
            <a:r>
              <a:rPr lang="en-US" dirty="0" smtClean="0"/>
              <a:t>‘</a:t>
            </a:r>
            <a:r>
              <a:rPr lang="en-US" dirty="0"/>
              <a:t>Best’ transport </a:t>
            </a:r>
            <a:r>
              <a:rPr lang="en-US" dirty="0" smtClean="0"/>
              <a:t>negotiation</a:t>
            </a:r>
          </a:p>
          <a:p>
            <a:pPr lvl="1"/>
            <a:r>
              <a:rPr lang="en-US" dirty="0" smtClean="0"/>
              <a:t> W. </a:t>
            </a:r>
            <a:r>
              <a:rPr lang="en-US" dirty="0"/>
              <a:t>Sockets </a:t>
            </a:r>
            <a:r>
              <a:rPr lang="en-US" dirty="0" smtClean="0"/>
              <a:t>-&gt; </a:t>
            </a:r>
            <a:r>
              <a:rPr lang="en-US" dirty="0"/>
              <a:t>SSE </a:t>
            </a:r>
            <a:r>
              <a:rPr lang="en-US" dirty="0" smtClean="0"/>
              <a:t>-&gt; </a:t>
            </a:r>
            <a:r>
              <a:rPr lang="en-US" dirty="0"/>
              <a:t>Forever frame </a:t>
            </a:r>
            <a:r>
              <a:rPr lang="en-US" dirty="0" smtClean="0"/>
              <a:t>-&gt; L. </a:t>
            </a:r>
            <a:r>
              <a:rPr lang="en-US" dirty="0"/>
              <a:t>polling </a:t>
            </a:r>
          </a:p>
          <a:p>
            <a:r>
              <a:rPr lang="en-US" dirty="0" smtClean="0"/>
              <a:t>Any data is JSON encoded</a:t>
            </a:r>
            <a:endParaRPr lang="en-US" b="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endParaRPr lang="en-US" b="0" dirty="0"/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855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Clients Property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686800" cy="5791200"/>
          </a:xfrm>
        </p:spPr>
        <p:txBody>
          <a:bodyPr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Clients</a:t>
            </a:r>
            <a:r>
              <a:rPr lang="en-US" dirty="0" smtClean="0"/>
              <a:t> property </a:t>
            </a:r>
            <a:r>
              <a:rPr lang="en-US" dirty="0"/>
              <a:t>to send messages to clients </a:t>
            </a:r>
            <a:endParaRPr lang="en-US" b="0" dirty="0"/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dirty="0" smtClean="0"/>
              <a:t>Holds </a:t>
            </a:r>
            <a:r>
              <a:rPr lang="en-US" dirty="0"/>
              <a:t>dynamic properties and methods </a:t>
            </a:r>
            <a:endParaRPr lang="en-US" b="0" dirty="0"/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dirty="0" smtClean="0"/>
              <a:t>Target </a:t>
            </a:r>
            <a:r>
              <a:rPr lang="en-US" dirty="0"/>
              <a:t>method </a:t>
            </a:r>
            <a:r>
              <a:rPr lang="en-US" dirty="0" smtClean="0"/>
              <a:t>with parameters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lang="en-US" dirty="0"/>
              <a:t>D</a:t>
            </a:r>
            <a:r>
              <a:rPr lang="en-US" dirty="0" smtClean="0"/>
              <a:t>ynamically </a:t>
            </a:r>
            <a:r>
              <a:rPr lang="en-US" dirty="0"/>
              <a:t>‘injected’ </a:t>
            </a:r>
            <a:endParaRPr lang="en-US" dirty="0" smtClean="0"/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lang="en-US" dirty="0" smtClean="0"/>
              <a:t>Serialized</a:t>
            </a:r>
            <a:endParaRPr lang="en-US" dirty="0"/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lang="en-US" dirty="0" smtClean="0"/>
              <a:t>Embedded </a:t>
            </a:r>
            <a:r>
              <a:rPr lang="en-US" dirty="0"/>
              <a:t>into </a:t>
            </a:r>
            <a:r>
              <a:rPr lang="en-US" dirty="0" smtClean="0"/>
              <a:t>response </a:t>
            </a:r>
            <a:endParaRPr lang="en-US" b="0" dirty="0"/>
          </a:p>
          <a:p>
            <a:endParaRPr lang="en-US" b="0" dirty="0"/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399" y="2438400"/>
            <a:ext cx="3253769" cy="1704975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457200" y="4267200"/>
            <a:ext cx="7924800" cy="193899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9pPr>
          </a:lstStyle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public void SendMessage(string message)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var 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msg = string.Format("{0}: {1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}",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	 		Context.ConnectionId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, message);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Clients.All.</a:t>
            </a:r>
            <a:r>
              <a:rPr lang="en-US" sz="2000" b="1" noProof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newMessage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(msg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);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6547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Groups Property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686800" cy="57912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 smtClean="0"/>
              <a:t>Groups - typical </a:t>
            </a:r>
            <a:r>
              <a:rPr lang="en-US" dirty="0"/>
              <a:t>base pattern in push scenarios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 smtClean="0"/>
              <a:t>Add </a:t>
            </a:r>
            <a:r>
              <a:rPr lang="en-US" dirty="0"/>
              <a:t>connections to groups </a:t>
            </a:r>
            <a:endParaRPr lang="en-US" dirty="0" smtClean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 smtClean="0"/>
              <a:t>And </a:t>
            </a:r>
            <a:r>
              <a:rPr lang="en-US" dirty="0"/>
              <a:t>send messages to particular groups </a:t>
            </a:r>
            <a:endParaRPr lang="en-US" dirty="0" smtClean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dirty="0" smtClean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dirty="0" smtClean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dirty="0" smtClean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dirty="0" smtClean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 smtClean="0"/>
              <a:t>Groups are not persisted on server!</a:t>
            </a:r>
            <a:endParaRPr lang="en-US" dirty="0"/>
          </a:p>
          <a:p>
            <a:endParaRPr lang="en-US" b="0" dirty="0"/>
          </a:p>
          <a:p>
            <a:endParaRPr lang="en-US" b="0" dirty="0"/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443218" y="2590800"/>
            <a:ext cx="7924800" cy="317009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9pPr>
          </a:lstStyle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public void JoinRoom(string room)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Groups.Add(Context.ConnectionId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, room);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public 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void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SendToRoom(string 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room, string message)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var 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msg = string.Format("{0}: {1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}",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Context.ConnectionId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, message);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Clients.Group(room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).</a:t>
            </a:r>
            <a:r>
              <a:rPr lang="en-US" sz="2000" b="1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newMessage(msg</a:t>
            </a:r>
            <a:r>
              <a:rPr lang="en-US" sz="2000" b="1" noProof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)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;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0929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066800"/>
            <a:ext cx="7924800" cy="685800"/>
          </a:xfrm>
        </p:spPr>
        <p:txBody>
          <a:bodyPr/>
          <a:lstStyle/>
          <a:p>
            <a:r>
              <a:rPr lang="en-US" dirty="0" err="1" smtClean="0"/>
              <a:t>SignalR</a:t>
            </a:r>
            <a:r>
              <a:rPr lang="en-US" dirty="0" smtClean="0"/>
              <a:t> Clients</a:t>
            </a:r>
            <a:endParaRPr lang="en-US" dirty="0"/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533400" y="1828800"/>
            <a:ext cx="7924800" cy="569120"/>
          </a:xfrm>
        </p:spPr>
        <p:txBody>
          <a:bodyPr/>
          <a:lstStyle/>
          <a:p>
            <a:r>
              <a:rPr lang="en-US" dirty="0" smtClean="0"/>
              <a:t>Client-side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6943" y="2514600"/>
            <a:ext cx="4651695" cy="349316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197505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Clients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686800" cy="5791200"/>
          </a:xfrm>
        </p:spPr>
        <p:txBody>
          <a:bodyPr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Consumers</a:t>
            </a:r>
            <a:endParaRPr lang="en-US" dirty="0"/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 smtClean="0"/>
              <a:t>Client applications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 smtClean="0"/>
              <a:t>Other </a:t>
            </a:r>
            <a:r>
              <a:rPr lang="en-US" dirty="0"/>
              <a:t>services/hubs </a:t>
            </a:r>
            <a:endParaRPr lang="en-US" b="0" dirty="0"/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 err="1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SignalR</a:t>
            </a:r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n-US" dirty="0"/>
              <a:t>provides a variety of client libraries </a:t>
            </a:r>
            <a:endParaRPr lang="en-US" dirty="0" smtClean="0"/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 err="1" smtClean="0"/>
              <a:t>WinRT</a:t>
            </a:r>
            <a:r>
              <a:rPr lang="en-US" dirty="0" smtClean="0"/>
              <a:t> </a:t>
            </a:r>
            <a:endParaRPr lang="en-US" dirty="0"/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Windows Phone 8 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Silverlight 5 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 err="1"/>
              <a:t>jQuery</a:t>
            </a:r>
            <a:r>
              <a:rPr lang="en-US" dirty="0"/>
              <a:t> 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C++ </a:t>
            </a:r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en-US" dirty="0" smtClean="0"/>
          </a:p>
          <a:p>
            <a:pPr marL="0" indent="0">
              <a:buNone/>
            </a:pPr>
            <a:endParaRPr lang="en-US" b="0" dirty="0" smtClean="0"/>
          </a:p>
          <a:p>
            <a:endParaRPr lang="en-US" dirty="0" smtClean="0"/>
          </a:p>
          <a:p>
            <a:endParaRPr lang="en-US" b="0" dirty="0" smtClean="0"/>
          </a:p>
          <a:p>
            <a:endParaRPr lang="en-US" b="0" dirty="0" smtClean="0"/>
          </a:p>
          <a:p>
            <a:pPr lvl="1"/>
            <a:endParaRPr lang="en-US" b="0" dirty="0" smtClean="0"/>
          </a:p>
          <a:p>
            <a:endParaRPr lang="en-US" b="0" dirty="0" smtClean="0"/>
          </a:p>
          <a:p>
            <a:endParaRPr lang="en-US" b="0" dirty="0" smtClean="0"/>
          </a:p>
          <a:p>
            <a:endParaRPr lang="en-US" b="0" dirty="0" smtClean="0"/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3352800"/>
            <a:ext cx="2921117" cy="260985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361906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jQuery</a:t>
            </a:r>
            <a:r>
              <a:rPr lang="en-US" dirty="0" smtClean="0"/>
              <a:t> </a:t>
            </a:r>
            <a:r>
              <a:rPr lang="en-US" dirty="0" smtClean="0"/>
              <a:t>Client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685800"/>
            <a:ext cx="8686800" cy="5791200"/>
          </a:xfrm>
        </p:spPr>
        <p:txBody>
          <a:bodyPr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dirty="0" smtClean="0"/>
              <a:t>Automatic </a:t>
            </a:r>
            <a:r>
              <a:rPr lang="en-US" dirty="0"/>
              <a:t>proxy code via 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/</a:t>
            </a:r>
            <a:r>
              <a:rPr lang="en-US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signalr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/hubs </a:t>
            </a:r>
            <a:endParaRPr lang="en-US" dirty="0" smtClean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dirty="0" smtClean="0"/>
              <a:t>Script </a:t>
            </a:r>
            <a:r>
              <a:rPr lang="en-US" dirty="0"/>
              <a:t>generated based on hubs </a:t>
            </a:r>
            <a:r>
              <a:rPr lang="en-US" dirty="0" smtClean="0"/>
              <a:t>declaration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dirty="0" smtClean="0"/>
              <a:t>Hubs </a:t>
            </a:r>
            <a:r>
              <a:rPr lang="en-US" dirty="0"/>
              <a:t>become properties on 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$.connection </a:t>
            </a:r>
            <a:endParaRPr lang="en-US" dirty="0" smtClean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lang="en-US" dirty="0" smtClean="0"/>
              <a:t>Example </a:t>
            </a:r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$.</a:t>
            </a:r>
            <a:r>
              <a:rPr lang="en-US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connection.chatHub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dirty="0"/>
              <a:t>Hub name camel cased 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$.</a:t>
            </a:r>
            <a:r>
              <a:rPr lang="en-US" dirty="0" err="1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connection.hub.start</a:t>
            </a:r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() </a:t>
            </a:r>
            <a:r>
              <a:rPr lang="en-US" dirty="0" smtClean="0"/>
              <a:t>– start connection</a:t>
            </a:r>
            <a:endParaRPr lang="en-US" b="0" dirty="0"/>
          </a:p>
          <a:p>
            <a:endParaRPr lang="en-US" b="0" dirty="0"/>
          </a:p>
          <a:p>
            <a:endParaRPr lang="en-US" dirty="0"/>
          </a:p>
          <a:p>
            <a:endParaRPr lang="en-US" b="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en-US" dirty="0" smtClean="0"/>
          </a:p>
          <a:p>
            <a:pPr marL="0" indent="0">
              <a:buNone/>
            </a:pPr>
            <a:endParaRPr lang="en-US" b="0" dirty="0" smtClean="0"/>
          </a:p>
          <a:p>
            <a:endParaRPr lang="en-US" dirty="0" smtClean="0"/>
          </a:p>
          <a:p>
            <a:endParaRPr lang="en-US" b="0" dirty="0" smtClean="0"/>
          </a:p>
          <a:p>
            <a:endParaRPr lang="en-US" b="0" dirty="0" smtClean="0"/>
          </a:p>
          <a:p>
            <a:pPr lvl="1"/>
            <a:endParaRPr lang="en-US" b="0" dirty="0" smtClean="0"/>
          </a:p>
          <a:p>
            <a:endParaRPr lang="en-US" b="0" dirty="0" smtClean="0"/>
          </a:p>
          <a:p>
            <a:endParaRPr lang="en-US" b="0" dirty="0" smtClean="0"/>
          </a:p>
          <a:p>
            <a:endParaRPr lang="en-US" b="0" dirty="0" smtClean="0"/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0606" y="4267200"/>
            <a:ext cx="7924800" cy="132343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9pPr>
          </a:lstStyle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$.connection.hub.start({ transport: 'longPolling'});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000" b="1" noProof="1" smtClean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var chat 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= $.connection.chat;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chat.server.joinRoom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('private');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6340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jQuery</a:t>
            </a:r>
            <a:r>
              <a:rPr lang="en-US" dirty="0" smtClean="0"/>
              <a:t> </a:t>
            </a:r>
            <a:r>
              <a:rPr lang="en-US" dirty="0" smtClean="0"/>
              <a:t>Client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685800"/>
            <a:ext cx="8686800" cy="5791200"/>
          </a:xfrm>
        </p:spPr>
        <p:txBody>
          <a:bodyPr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dirty="0" smtClean="0"/>
              <a:t>Define client side methods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lang="en-US" dirty="0" smtClean="0"/>
              <a:t>They can be invoked by the hub</a:t>
            </a:r>
            <a:endParaRPr lang="en-US" dirty="0"/>
          </a:p>
          <a:p>
            <a:endParaRPr lang="en-US" b="0" dirty="0"/>
          </a:p>
          <a:p>
            <a:endParaRPr lang="en-US" dirty="0"/>
          </a:p>
          <a:p>
            <a:pPr marL="0" indent="0">
              <a:buNone/>
            </a:pPr>
            <a:endParaRPr lang="en-US" b="0" dirty="0"/>
          </a:p>
          <a:p>
            <a:r>
              <a:rPr lang="en-US" dirty="0" smtClean="0"/>
              <a:t>Events </a:t>
            </a:r>
            <a:r>
              <a:rPr lang="en-US" dirty="0"/>
              <a:t>for connection state handling </a:t>
            </a:r>
            <a:endParaRPr lang="en-US" b="0" dirty="0"/>
          </a:p>
          <a:p>
            <a:r>
              <a:rPr lang="en-US" dirty="0" smtClean="0"/>
              <a:t>Detect </a:t>
            </a:r>
            <a:r>
              <a:rPr lang="en-US" dirty="0"/>
              <a:t>slow connections </a:t>
            </a:r>
            <a:endParaRPr lang="en-US" b="0" dirty="0"/>
          </a:p>
          <a:p>
            <a:r>
              <a:rPr lang="en-US" dirty="0" smtClean="0"/>
              <a:t>Cross-domain </a:t>
            </a:r>
            <a:r>
              <a:rPr lang="en-US" dirty="0"/>
              <a:t>support </a:t>
            </a:r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en-US" dirty="0" smtClean="0"/>
          </a:p>
          <a:p>
            <a:pPr marL="0" indent="0">
              <a:buNone/>
            </a:pPr>
            <a:endParaRPr lang="en-US" b="0" dirty="0" smtClean="0"/>
          </a:p>
          <a:p>
            <a:endParaRPr lang="en-US" dirty="0" smtClean="0"/>
          </a:p>
          <a:p>
            <a:endParaRPr lang="en-US" b="0" dirty="0" smtClean="0"/>
          </a:p>
          <a:p>
            <a:endParaRPr lang="en-US" b="0" dirty="0" smtClean="0"/>
          </a:p>
          <a:p>
            <a:pPr lvl="1"/>
            <a:endParaRPr lang="en-US" b="0" dirty="0" smtClean="0"/>
          </a:p>
          <a:p>
            <a:endParaRPr lang="en-US" b="0" dirty="0" smtClean="0"/>
          </a:p>
          <a:p>
            <a:endParaRPr lang="en-US" b="0" dirty="0" smtClean="0"/>
          </a:p>
          <a:p>
            <a:endParaRPr lang="en-US" b="0" dirty="0" smtClean="0"/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81000" y="1752600"/>
            <a:ext cx="7924800" cy="193899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9pPr>
          </a:lstStyle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var chat 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= $.connection.chat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; </a:t>
            </a:r>
            <a:endParaRPr lang="en-US" sz="2000" b="1" noProof="1" smtClean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chat.client.newMessage 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= 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onNewMessage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function addMessage(message) {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$('#messages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').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append(message);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}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6267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533400" y="2590800"/>
            <a:ext cx="7924800" cy="685800"/>
          </a:xfrm>
        </p:spPr>
        <p:txBody>
          <a:bodyPr/>
          <a:lstStyle/>
          <a:p>
            <a:r>
              <a:rPr lang="en-US" dirty="0" smtClean="0"/>
              <a:t>Chat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228600" y="3276600"/>
            <a:ext cx="8534400" cy="457200"/>
          </a:xfrm>
        </p:spPr>
        <p:txBody>
          <a:bodyPr/>
          <a:lstStyle/>
          <a:p>
            <a:r>
              <a:rPr lang="en-US" dirty="0" smtClean="0"/>
              <a:t>Live 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051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76200"/>
            <a:ext cx="7086600" cy="1066800"/>
          </a:xfrm>
        </p:spPr>
        <p:txBody>
          <a:bodyPr/>
          <a:lstStyle/>
          <a:p>
            <a:r>
              <a:rPr lang="en-US" dirty="0" smtClean="0"/>
              <a:t>Signal 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473176" y="6400800"/>
            <a:ext cx="3552511" cy="369332"/>
          </a:xfrm>
        </p:spPr>
        <p:txBody>
          <a:bodyPr/>
          <a:lstStyle/>
          <a:p>
            <a:r>
              <a:rPr lang="en-US" dirty="0">
                <a:hlinkClick r:id="rId2"/>
              </a:rPr>
              <a:t>http</a:t>
            </a:r>
            <a:r>
              <a:rPr lang="en-US" dirty="0" smtClean="0">
                <a:hlinkClick r:id="rId2"/>
              </a:rPr>
              <a:t>://schoolacademy.telerik.com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3162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Homework</a:t>
            </a:r>
            <a:endParaRPr lang="bg-BG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805343"/>
            <a:ext cx="8686800" cy="5791200"/>
          </a:xfrm>
        </p:spPr>
        <p:txBody>
          <a:bodyPr/>
          <a:lstStyle/>
          <a:p>
            <a:pPr marL="514350" indent="-5143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Font typeface="+mj-lt"/>
              <a:buAutoNum type="arabicPeriod"/>
            </a:pPr>
            <a:r>
              <a:rPr lang="en-US" sz="2800" dirty="0" smtClean="0"/>
              <a:t>Create the </a:t>
            </a:r>
            <a:r>
              <a:rPr lang="en-US" sz="2800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Ping Pong </a:t>
            </a:r>
            <a:r>
              <a:rPr lang="en-US" sz="2800" dirty="0" smtClean="0"/>
              <a:t>game for two players with </a:t>
            </a:r>
            <a:r>
              <a:rPr lang="en-US" sz="2800" dirty="0" err="1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SignalR</a:t>
            </a:r>
            <a:r>
              <a:rPr lang="en-US" sz="2800" dirty="0" smtClean="0"/>
              <a:t>. You can use external libraries like </a:t>
            </a:r>
            <a:r>
              <a:rPr lang="en-US" sz="2800" dirty="0" err="1" smtClean="0">
                <a:hlinkClick r:id="rId2"/>
              </a:rPr>
              <a:t>CGWeb</a:t>
            </a:r>
            <a:r>
              <a:rPr lang="en-US" sz="2800" dirty="0" smtClean="0"/>
              <a:t>.</a:t>
            </a:r>
            <a:endParaRPr lang="en-US" sz="26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2209800"/>
            <a:ext cx="5257800" cy="3737967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3167583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Free Trainings @ Telerik Academy</a:t>
            </a:r>
            <a:endParaRPr lang="en-US" sz="36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28600" y="1066800"/>
            <a:ext cx="8686800" cy="5638800"/>
          </a:xfrm>
        </p:spPr>
        <p:txBody>
          <a:bodyPr/>
          <a:lstStyle/>
          <a:p>
            <a:r>
              <a:rPr lang="en-US" dirty="0" smtClean="0"/>
              <a:t>“C# Programming @ Telerik Academy</a:t>
            </a:r>
          </a:p>
          <a:p>
            <a:pPr marL="574675" lvl="2" indent="-282575"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noProof="1">
                <a:hlinkClick r:id="rId2"/>
              </a:rPr>
              <a:t>csharpfundamentals.telerik.com</a:t>
            </a:r>
            <a:endParaRPr lang="en-US" noProof="1"/>
          </a:p>
          <a:p>
            <a:pPr marL="282575" lvl="1" indent="-282575">
              <a:spcBef>
                <a:spcPts val="18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dirty="0" smtClean="0"/>
              <a:t>Telerik Software Academy</a:t>
            </a:r>
          </a:p>
          <a:p>
            <a:pPr marL="574675" lvl="2" indent="-282575"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noProof="1" smtClean="0">
                <a:hlinkClick r:id="rId3" tooltip="Telerik Software Academy - Free Programming Courses"/>
              </a:rPr>
              <a:t>academy.telerik.com</a:t>
            </a:r>
            <a:endParaRPr lang="en-US" noProof="1" smtClean="0"/>
          </a:p>
          <a:p>
            <a:pPr marL="282575" lvl="1" indent="-282575">
              <a:spcBef>
                <a:spcPts val="18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dirty="0" smtClean="0"/>
              <a:t>Telerik Academy @ Facebook</a:t>
            </a:r>
          </a:p>
          <a:p>
            <a:pPr marL="574675" lvl="2" indent="-282575"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noProof="1" smtClean="0">
                <a:hlinkClick r:id="rId4" tooltip="Telerik Softyware Academy @ Facebook"/>
              </a:rPr>
              <a:t>facebook.com/TelerikAcademy</a:t>
            </a:r>
            <a:endParaRPr lang="en-US" noProof="1" smtClean="0"/>
          </a:p>
          <a:p>
            <a:pPr marL="282575" lvl="1" indent="-282575">
              <a:spcBef>
                <a:spcPts val="18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dirty="0" smtClean="0"/>
              <a:t>Telerik Software Academy Forums</a:t>
            </a:r>
          </a:p>
          <a:p>
            <a:pPr marL="574675" lvl="2" indent="-282575"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noProof="1" smtClean="0">
                <a:hlinkClick r:id="rId5" tooltip="Telerik Software Academy Forums - Community for Programmers"/>
              </a:rPr>
              <a:t>forums.academy.telerik.com</a:t>
            </a:r>
            <a:endParaRPr lang="en-US" noProof="1"/>
          </a:p>
        </p:txBody>
      </p:sp>
      <p:pic>
        <p:nvPicPr>
          <p:cNvPr id="5" name="Picture 5">
            <a:hlinkClick r:id="rId5" tooltip="Telerik Software Academy Forums - Discussion Board for Developers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3898" y="5218092"/>
            <a:ext cx="1162902" cy="12686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>
            <a:hlinkClick r:id="rId3" tooltip="Telerik Software Academy"/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8941" y="2667000"/>
            <a:ext cx="3137859" cy="918234"/>
          </a:xfrm>
          <a:prstGeom prst="rect">
            <a:avLst/>
          </a:prstGeom>
          <a:noFill/>
          <a:ln>
            <a:solidFill>
              <a:srgbClr val="9BCC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13">
            <a:hlinkClick r:id="rId8" tooltip="Telerik Academy @ Facebook"/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8587" y="4003901"/>
            <a:ext cx="938213" cy="938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1">
            <a:hlinkClick r:id="rId2"/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2025" y="1123558"/>
            <a:ext cx="1124775" cy="112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5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1891dbb5ef1eec16f96b550c792a3c169f6d68"/>
</p:tagLst>
</file>

<file path=ppt/theme/theme1.xml><?xml version="1.0" encoding="utf-8"?>
<a:theme xmlns:a="http://schemas.openxmlformats.org/drawingml/2006/main" name="Telerik Academy">
  <a:themeElements>
    <a:clrScheme name="Telerik Colors Theme">
      <a:dk1>
        <a:sysClr val="windowText" lastClr="000000"/>
      </a:dk1>
      <a:lt1>
        <a:srgbClr val="CCFF66"/>
      </a:lt1>
      <a:dk2>
        <a:srgbClr val="30356E"/>
      </a:dk2>
      <a:lt2>
        <a:srgbClr val="CCFF33"/>
      </a:lt2>
      <a:accent1>
        <a:srgbClr val="CC4757"/>
      </a:accent1>
      <a:accent2>
        <a:srgbClr val="FF6F61"/>
      </a:accent2>
      <a:accent3>
        <a:srgbClr val="FF953E"/>
      </a:accent3>
      <a:accent4>
        <a:srgbClr val="F8BD52"/>
      </a:accent4>
      <a:accent5>
        <a:srgbClr val="46A6BD"/>
      </a:accent5>
      <a:accent6>
        <a:srgbClr val="5488BC"/>
      </a:accent6>
      <a:hlink>
        <a:srgbClr val="76B200"/>
      </a:hlink>
      <a:folHlink>
        <a:srgbClr val="FFCF3E"/>
      </a:folHlink>
    </a:clrScheme>
    <a:fontScheme name="Deluxe">
      <a:majorFont>
        <a:latin typeface="Corbel"/>
        <a:ea typeface=""/>
        <a:cs typeface=""/>
        <a:font script="Jpan" typeface="HGｺﾞｼｯｸM"/>
        <a:font script="Hang" typeface="HY엽서L"/>
        <a:font script="Hans" typeface="华文新魏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新魏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Deluxe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280000"/>
              </a:schemeClr>
            </a:gs>
            <a:gs pos="14000">
              <a:schemeClr val="phClr">
                <a:tint val="37000"/>
                <a:satMod val="250000"/>
              </a:schemeClr>
            </a:gs>
            <a:gs pos="45000">
              <a:schemeClr val="phClr">
                <a:tint val="53000"/>
                <a:satMod val="220000"/>
              </a:schemeClr>
            </a:gs>
            <a:gs pos="65000">
              <a:schemeClr val="phClr">
                <a:tint val="53000"/>
                <a:satMod val="220000"/>
              </a:schemeClr>
            </a:gs>
            <a:gs pos="86000">
              <a:schemeClr val="phClr">
                <a:tint val="42000"/>
                <a:satMod val="240000"/>
              </a:schemeClr>
            </a:gs>
            <a:gs pos="100000">
              <a:schemeClr val="phClr">
                <a:tint val="20000"/>
                <a:satMod val="23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0000">
              <a:schemeClr val="phClr">
                <a:satMod val="150000"/>
              </a:schemeClr>
            </a:gs>
            <a:gs pos="100000">
              <a:schemeClr val="phClr">
                <a:tint val="75000"/>
                <a:satMod val="20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atMod val="14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prstMaterial="powder">
            <a:bevelT w="152400"/>
            <a:contourClr>
              <a:schemeClr val="phClr"/>
            </a:contourClr>
          </a:sp3d>
        </a:effectStyle>
        <a:effectStyle>
          <a:effectLst>
            <a:reflection blurRad="12700" stA="26000" endPos="28000" dist="38100" dir="5400000" sy="-100000"/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prstMaterial="powder">
            <a:bevelT w="190500" h="1016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3000"/>
                <a:satMod val="1550000"/>
              </a:schemeClr>
            </a:gs>
            <a:gs pos="1000">
              <a:schemeClr val="phClr">
                <a:tint val="48000"/>
                <a:satMod val="1550000"/>
              </a:schemeClr>
            </a:gs>
            <a:gs pos="90000">
              <a:schemeClr val="phClr">
                <a:shade val="18000"/>
                <a:satMod val="275000"/>
              </a:schemeClr>
            </a:gs>
          </a:gsLst>
          <a:path path="circle">
            <a:fillToRect r="210000" b="300000"/>
          </a:path>
        </a:gradFill>
        <a:gradFill rotWithShape="1">
          <a:gsLst>
            <a:gs pos="5000">
              <a:schemeClr val="phClr">
                <a:tint val="38000"/>
                <a:satMod val="1800000"/>
              </a:schemeClr>
            </a:gs>
            <a:gs pos="5000">
              <a:schemeClr val="phClr">
                <a:tint val="40000"/>
                <a:satMod val="1800000"/>
              </a:schemeClr>
            </a:gs>
            <a:gs pos="90000">
              <a:schemeClr val="phClr">
                <a:shade val="18000"/>
                <a:satMod val="275000"/>
              </a:schemeClr>
            </a:gs>
          </a:gsLst>
          <a:path path="circle">
            <a:fillToRect l="20000" t="30000" r="135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Deluxe</Template>
  <TotalTime>12936</TotalTime>
  <Words>760</Words>
  <Application>Microsoft Office PowerPoint</Application>
  <PresentationFormat>On-screen Show (4:3)</PresentationFormat>
  <Paragraphs>397</Paragraphs>
  <Slides>30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Telerik Academy</vt:lpstr>
      <vt:lpstr>ASP.NET SignalR</vt:lpstr>
      <vt:lpstr>Table of Contents</vt:lpstr>
      <vt:lpstr>Web based real-time communication</vt:lpstr>
      <vt:lpstr>Problems &amp; Solutions</vt:lpstr>
      <vt:lpstr>Problems &amp; Solutions</vt:lpstr>
      <vt:lpstr>Push Services Pattern</vt:lpstr>
      <vt:lpstr>Push Services Pattern</vt:lpstr>
      <vt:lpstr>HTTP Protocol</vt:lpstr>
      <vt:lpstr>Web Sockets</vt:lpstr>
      <vt:lpstr>Web Sockets</vt:lpstr>
      <vt:lpstr>SignalR Solution</vt:lpstr>
      <vt:lpstr>SignalR</vt:lpstr>
      <vt:lpstr>SignalR</vt:lpstr>
      <vt:lpstr>SignalR</vt:lpstr>
      <vt:lpstr>SignalR</vt:lpstr>
      <vt:lpstr>SignalR ShootR</vt:lpstr>
      <vt:lpstr>SignalR Hubs</vt:lpstr>
      <vt:lpstr>Hubs</vt:lpstr>
      <vt:lpstr>Hub Programming</vt:lpstr>
      <vt:lpstr>Hub Programming</vt:lpstr>
      <vt:lpstr>Clients Property</vt:lpstr>
      <vt:lpstr>Groups Property</vt:lpstr>
      <vt:lpstr>SignalR Clients</vt:lpstr>
      <vt:lpstr>Clients</vt:lpstr>
      <vt:lpstr>jQuery Client</vt:lpstr>
      <vt:lpstr>jQuery Client</vt:lpstr>
      <vt:lpstr>Chat</vt:lpstr>
      <vt:lpstr>Signal R</vt:lpstr>
      <vt:lpstr>Homework</vt:lpstr>
      <vt:lpstr>Free Trainings @ Telerik Academy</vt:lpstr>
    </vt:vector>
  </TitlesOfParts>
  <Company>Telerik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Telerik Software Academy</dc:title>
  <dc:subject>Telerik Software Academy</dc:subject>
  <dc:creator>Nikolay.IT</dc:creator>
  <cp:keywords>telerik software academy, free courses for developers</cp:keywords>
  <cp:lastModifiedBy>Ivaylo Kenov</cp:lastModifiedBy>
  <cp:revision>1108</cp:revision>
  <dcterms:created xsi:type="dcterms:W3CDTF">2007-12-08T16:03:35Z</dcterms:created>
  <dcterms:modified xsi:type="dcterms:W3CDTF">2013-09-27T07:30:30Z</dcterms:modified>
  <cp:category>software engineering</cp:category>
</cp:coreProperties>
</file>