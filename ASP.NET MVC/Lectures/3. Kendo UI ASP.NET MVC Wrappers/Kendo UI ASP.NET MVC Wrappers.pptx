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handoutMasterIdLst>
    <p:handoutMasterId r:id="rId23"/>
  </p:handoutMasterIdLst>
  <p:sldIdLst>
    <p:sldId id="338" r:id="rId2"/>
    <p:sldId id="335" r:id="rId3"/>
    <p:sldId id="421" r:id="rId4"/>
    <p:sldId id="422" r:id="rId5"/>
    <p:sldId id="437" r:id="rId6"/>
    <p:sldId id="438" r:id="rId7"/>
    <p:sldId id="430" r:id="rId8"/>
    <p:sldId id="431" r:id="rId9"/>
    <p:sldId id="448" r:id="rId10"/>
    <p:sldId id="447" r:id="rId11"/>
    <p:sldId id="440" r:id="rId12"/>
    <p:sldId id="442" r:id="rId13"/>
    <p:sldId id="443" r:id="rId14"/>
    <p:sldId id="444" r:id="rId15"/>
    <p:sldId id="445" r:id="rId16"/>
    <p:sldId id="446" r:id="rId17"/>
    <p:sldId id="449" r:id="rId18"/>
    <p:sldId id="334" r:id="rId19"/>
    <p:sldId id="450" r:id="rId20"/>
    <p:sldId id="403" r:id="rId21"/>
  </p:sldIdLst>
  <p:sldSz cx="9144000" cy="6858000" type="screen4x3"/>
  <p:notesSz cx="6881813" cy="9296400"/>
  <p:custDataLst>
    <p:tags r:id="rId2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5pPr>
    <a:lvl6pPr marL="22860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6pPr>
    <a:lvl7pPr marL="27432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7pPr>
    <a:lvl8pPr marL="32004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8pPr>
    <a:lvl9pPr marL="36576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928">
          <p15:clr>
            <a:srgbClr val="A4A3A4"/>
          </p15:clr>
        </p15:guide>
        <p15:guide id="2" pos="21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BCC00"/>
    <a:srgbClr val="9ED000"/>
    <a:srgbClr val="F4FCD8"/>
    <a:srgbClr val="E8FFC8"/>
    <a:srgbClr val="FAF7C8"/>
    <a:srgbClr val="FAF8C8"/>
    <a:srgbClr val="F5FFC2"/>
    <a:srgbClr val="EBFFD2"/>
    <a:srgbClr val="EBF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00" autoAdjust="0"/>
    <p:restoredTop sz="94468" autoAdjust="0"/>
  </p:normalViewPr>
  <p:slideViewPr>
    <p:cSldViewPr>
      <p:cViewPr varScale="1">
        <p:scale>
          <a:sx n="106" d="100"/>
          <a:sy n="106" d="100"/>
        </p:scale>
        <p:origin x="-103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778" y="-96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BF7C7B5-275F-4D1F-9AB4-9255447DBC73}" type="datetimeFigureOut">
              <a:rPr lang="en-US"/>
              <a:pPr/>
              <a:t>9/26/2013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DADE544-1278-4EDA-8870-0A169B9A6D6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240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9B46F231-FB2B-4655-A644-E2477325E686}" type="datetimeFigureOut">
              <a:rPr lang="en-US"/>
              <a:pPr/>
              <a:t>9/26/2013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7388" y="4416425"/>
            <a:ext cx="5507037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6FB4F6EA-423E-42DF-9292-215E7D886C4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2019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mvccourse.telerik.com/" TargetMode="External"/><Relationship Id="rId13" Type="http://schemas.openxmlformats.org/officeDocument/2006/relationships/hyperlink" Target="http://algoacademy.telerik.com/" TargetMode="External"/><Relationship Id="rId18" Type="http://schemas.openxmlformats.org/officeDocument/2006/relationships/hyperlink" Target="http://www.minkov.it/" TargetMode="External"/><Relationship Id="rId3" Type="http://schemas.openxmlformats.org/officeDocument/2006/relationships/hyperlink" Target="http://kursove-uroci-knigi-obuchenie-programirane-web-design-csharp.info/" TargetMode="External"/><Relationship Id="rId7" Type="http://schemas.openxmlformats.org/officeDocument/2006/relationships/hyperlink" Target="http://schoolacademy.telerik.com/" TargetMode="External"/><Relationship Id="rId12" Type="http://schemas.openxmlformats.org/officeDocument/2006/relationships/hyperlink" Target="http://codecourse.telerik.com/" TargetMode="External"/><Relationship Id="rId17" Type="http://schemas.openxmlformats.org/officeDocument/2006/relationships/hyperlink" Target="http://www.introprogramming.info/" TargetMode="External"/><Relationship Id="rId2" Type="http://schemas.openxmlformats.org/officeDocument/2006/relationships/hyperlink" Target="http://forums.academy.telerik.com/" TargetMode="External"/><Relationship Id="rId16" Type="http://schemas.openxmlformats.org/officeDocument/2006/relationships/hyperlink" Target="http://mobiledevcourse.telerik.com/" TargetMode="External"/><Relationship Id="rId20" Type="http://schemas.openxmlformats.org/officeDocument/2006/relationships/hyperlink" Target="http://csharpfundamentals.telerik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html5course.telerik.com/" TargetMode="External"/><Relationship Id="rId11" Type="http://schemas.openxmlformats.org/officeDocument/2006/relationships/hyperlink" Target="http://www.nakov.com/" TargetMode="External"/><Relationship Id="rId5" Type="http://schemas.openxmlformats.org/officeDocument/2006/relationships/hyperlink" Target="http://seocourse.telerik.com/" TargetMode="External"/><Relationship Id="rId15" Type="http://schemas.openxmlformats.org/officeDocument/2006/relationships/hyperlink" Target="http://academy.telerik.com/" TargetMode="External"/><Relationship Id="rId10" Type="http://schemas.openxmlformats.org/officeDocument/2006/relationships/hyperlink" Target="http://www.bgcoder.com/" TargetMode="External"/><Relationship Id="rId19" Type="http://schemas.openxmlformats.org/officeDocument/2006/relationships/hyperlink" Target="http://www.nikolay.it/" TargetMode="External"/><Relationship Id="rId4" Type="http://schemas.openxmlformats.org/officeDocument/2006/relationships/hyperlink" Target="http://www.telerik-kids.com/" TargetMode="External"/><Relationship Id="rId9" Type="http://schemas.openxmlformats.org/officeDocument/2006/relationships/hyperlink" Target="http://clouddevcourse.telerik.com/" TargetMode="External"/><Relationship Id="rId14" Type="http://schemas.openxmlformats.org/officeDocument/2006/relationships/hyperlink" Target="http://aspnetcourse.telerik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457200" y="1524000"/>
            <a:ext cx="82296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6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457200" y="3240880"/>
            <a:ext cx="8229600" cy="569120"/>
          </a:xfrm>
          <a:prstGeom prst="rect">
            <a:avLst/>
          </a:prstGeom>
        </p:spPr>
        <p:txBody>
          <a:bodyPr lIns="90000" tIns="0" rIns="9000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Presentation Subtitle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4572000"/>
            <a:ext cx="3352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dirty="0" smtClean="0">
                <a:solidFill>
                  <a:srgbClr val="DEFF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833646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marL="319088" lvl="0" indent="-319088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1800" b="1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Name</a:t>
            </a:r>
            <a:endParaRPr lang="en-US" sz="1800" b="1" dirty="0">
              <a:solidFill>
                <a:srgbClr val="0EFE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138446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Web Site</a:t>
            </a:r>
            <a:endParaRPr lang="en-US" sz="1600" b="1" dirty="0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029200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en-US" dirty="0"/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405735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Web Site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267200" y="4572000"/>
            <a:ext cx="4419600" cy="190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14400"/>
            <a:ext cx="8686800" cy="5791200"/>
          </a:xfrm>
          <a:prstGeom prst="rect">
            <a:avLst/>
          </a:prstGeom>
        </p:spPr>
        <p:txBody>
          <a:bodyPr/>
          <a:lstStyle>
            <a:lvl1pPr marL="282575" indent="-2825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tabLst>
                <a:tab pos="282575" algn="l"/>
              </a:tabLst>
              <a:defRPr sz="3200">
                <a:solidFill>
                  <a:srgbClr val="EBFFD2"/>
                </a:solidFill>
              </a:defRPr>
            </a:lvl1pPr>
            <a:lvl2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rgbClr val="F5FFC2"/>
                </a:solidFill>
              </a:defRPr>
            </a:lvl3pPr>
            <a:lvl4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4000"/>
              </a:lnSpc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90600"/>
            <a:ext cx="8686800" cy="579646"/>
          </a:xfrm>
          <a:prstGeom prst="rect">
            <a:avLst/>
          </a:prstGeom>
        </p:spPr>
        <p:txBody>
          <a:bodyPr>
            <a:spAutoFit/>
          </a:bodyPr>
          <a:lstStyle>
            <a:lvl1pPr marL="319088" marR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 sz="3000" baseline="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3pPr>
            <a:lvl4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marL="319088" marR="0" lvl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FF66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First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33400" y="1752600"/>
            <a:ext cx="8077200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2000" smtClean="0">
                <a:solidFill>
                  <a:srgbClr val="8CF4F2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pPr lvl="0"/>
            <a:r>
              <a:rPr lang="en-US" noProof="1" smtClean="0"/>
              <a:t>Enter source code here</a:t>
            </a:r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685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 hasCustomPrompt="1"/>
          </p:nvPr>
        </p:nvSpPr>
        <p:spPr>
          <a:xfrm>
            <a:off x="609600" y="2743201"/>
            <a:ext cx="7924800" cy="6858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lnSpc>
                <a:spcPts val="5600"/>
              </a:lnSpc>
              <a:defRPr sz="5000" cap="none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609600" y="3469480"/>
            <a:ext cx="7924800" cy="56912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800" b="1" kern="1200" baseline="0" dirty="0">
                <a:solidFill>
                  <a:srgbClr val="FAF7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Section Subtitle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 userDrawn="1"/>
        </p:nvGrpSpPr>
        <p:grpSpPr>
          <a:xfrm>
            <a:off x="130434" y="6373882"/>
            <a:ext cx="1816798" cy="331718"/>
            <a:chOff x="1236228" y="1523999"/>
            <a:chExt cx="4351212" cy="3261410"/>
          </a:xfrm>
          <a:noFill/>
        </p:grpSpPr>
        <p:sp>
          <p:nvSpPr>
            <p:cNvPr id="31" name="TextBox 30">
              <a:hlinkClick r:id="rId2" tooltip="Форум за програмиране и уеб дизайн - дискусии, съвети, въпроси и отговори @ Софтуерна академия на Телерик"/>
            </p:cNvPr>
            <p:cNvSpPr txBox="1"/>
            <p:nvPr userDrawn="1"/>
          </p:nvSpPr>
          <p:spPr>
            <a:xfrm flipH="1">
              <a:off x="3394420" y="1733044"/>
              <a:ext cx="1528760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форум програмиране, форум уеб дизайн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2" name="TextBox 31">
  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  </p:cNvPr>
            <p:cNvSpPr txBox="1"/>
            <p:nvPr userDrawn="1"/>
          </p:nvSpPr>
          <p:spPr>
            <a:xfrm flipH="1">
              <a:off x="1350512" y="1528531"/>
              <a:ext cx="2008656" cy="114988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курсове и уроци по програмиране, уеб дизайн – безплатно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3" name="TextBox 32">
              <a:hlinkClick r:id="rId4" tooltip="Програмиране за деца - безплатно в Телерик кидс академия"/>
            </p:cNvPr>
            <p:cNvSpPr txBox="1"/>
            <p:nvPr userDrawn="1"/>
          </p:nvSpPr>
          <p:spPr>
            <a:xfrm flipH="1">
              <a:off x="1538277" y="2175145"/>
              <a:ext cx="181669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за деца – безплатни курсове и уроци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4" name="TextBox 33">
              <a:hlinkClick r:id="rId5" tooltip="Безплатен SEO курс - оптимизация за търсачки, уроци по SEO"/>
            </p:cNvPr>
            <p:cNvSpPr txBox="1"/>
            <p:nvPr userDrawn="1"/>
          </p:nvSpPr>
          <p:spPr>
            <a:xfrm flipH="1">
              <a:off x="1660733" y="2421354"/>
              <a:ext cx="169768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безплатен SEO курс - оптимизация за търсачки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5" name="TextBox 34">
              <a:hlinkClick r:id="rId6" tooltip="Безплатен курс &quot;Уеб дизайн с HTML, CSS и JavaScript&quot; - уроци по правене на уеб сайтове, HTML, CSS, Photoshop, JavaScript и CMS системи"/>
            </p:cNvPr>
            <p:cNvSpPr txBox="1"/>
            <p:nvPr userDrawn="1"/>
          </p:nvSpPr>
          <p:spPr>
            <a:xfrm flipH="1">
              <a:off x="1448482" y="2878556"/>
              <a:ext cx="1908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уроци по уеб дизайн, HTML, CSS, JavaScript, Photoshop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6" name="TextBox 35">
              <a:hlinkClick r:id="rId7" tooltip="Училищна софтуерна академия - безплатни уроци по програмиране и уеб дизайн"/>
            </p:cNvPr>
            <p:cNvSpPr txBox="1"/>
            <p:nvPr userDrawn="1"/>
          </p:nvSpPr>
          <p:spPr>
            <a:xfrm flipH="1">
              <a:off x="1636239" y="1946534"/>
              <a:ext cx="174759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уроци по програмиране и уеб дизайн за ученици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7" name="TextBox 36">
              <a:hlinkClick r:id="rId8" tooltip="Безплатен курс &quot;Програмиране с ASP.NET MVC&quot; - уеб технологии, бази данни, C#, .NET, ASP.NET MVC"/>
            </p:cNvPr>
            <p:cNvSpPr txBox="1"/>
            <p:nvPr userDrawn="1"/>
          </p:nvSpPr>
          <p:spPr>
            <a:xfrm flipH="1">
              <a:off x="3402824" y="2230065"/>
              <a:ext cx="193955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MVC курс – HTML, SQL, C#, .NET, ASP.NET MVC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8" name="TextBox 37">
              <a:hlinkClick r:id="rId9" tooltip="Безплатен курс &quot;Разработка на софтуер в Cloud среда&quot; - AppEngine, AWS, Azure"/>
            </p:cNvPr>
            <p:cNvSpPr txBox="1"/>
            <p:nvPr userDrawn="1"/>
          </p:nvSpPr>
          <p:spPr>
            <a:xfrm flipH="1">
              <a:off x="1440310" y="3574997"/>
              <a:ext cx="188196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"Разработка на софтуер в cloud среда"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9" name="TextBox 38">
              <a:hlinkClick r:id="rId10" tooltip="BG Coder - онлайн състезателна система - тренировки за състезания по програмиране - online judge"/>
            </p:cNvPr>
            <p:cNvSpPr txBox="1"/>
            <p:nvPr userDrawn="1"/>
          </p:nvSpPr>
          <p:spPr>
            <a:xfrm flipH="1">
              <a:off x="3389110" y="1523999"/>
              <a:ext cx="187428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BG Coder - онлайн състезателна система - online judge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0" name="TextBox 39">
              <a:hlinkClick r:id="rId11" tooltip="Светлин Наков - курсове и уроци по програмиране, уеб дизайн, книги, обучения - безплатно"/>
            </p:cNvPr>
            <p:cNvSpPr txBox="1"/>
            <p:nvPr userDrawn="1"/>
          </p:nvSpPr>
          <p:spPr>
            <a:xfrm flipH="1">
              <a:off x="1236228" y="2649965"/>
              <a:ext cx="212383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програмиране, книги – безплатно от Наков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1" name="TextBox 40">
              <a:hlinkClick r:id="rId12" tooltip="Безплатен курс &quot;Качествен програмен код&quot;"/>
            </p:cNvPr>
            <p:cNvSpPr txBox="1"/>
            <p:nvPr userDrawn="1"/>
          </p:nvSpPr>
          <p:spPr>
            <a:xfrm flipH="1">
              <a:off x="1766855" y="3335748"/>
              <a:ext cx="159402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"Качествен програмен код"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2" name="TextBox 41">
  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  </p:cNvPr>
            <p:cNvSpPr txBox="1"/>
            <p:nvPr userDrawn="1"/>
          </p:nvSpPr>
          <p:spPr>
            <a:xfrm flipH="1">
              <a:off x="3407676" y="2461282"/>
              <a:ext cx="197794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алго академия – състезателно програмиране, състезания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3" name="TextBox 42">
              <a:hlinkClick r:id="rId14" tooltip="Безплатен ASP.NET курс - уеб програмиране, бази данни, C#, .NET, ASP.NET"/>
            </p:cNvPr>
            <p:cNvSpPr txBox="1"/>
            <p:nvPr userDrawn="1"/>
          </p:nvSpPr>
          <p:spPr>
            <a:xfrm flipH="1">
              <a:off x="3406019" y="1985429"/>
              <a:ext cx="218142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курс - уеб програмиране, бази данни, C#, .NET, ASP.NET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4" name="TextBox 43">
              <a:hlinkClick r:id="rId15" tooltip="Софтуерна академия на Телерик - безплатни курсове и уроци по програмиране"/>
            </p:cNvPr>
            <p:cNvSpPr txBox="1"/>
            <p:nvPr userDrawn="1"/>
          </p:nvSpPr>
          <p:spPr>
            <a:xfrm flipH="1">
              <a:off x="1504800" y="1717933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</a:t>
              </a: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– Телерик академия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5" name="TextBox 44">
              <a:hlinkClick r:id="rId16" tooltip="Безплатен курс &quot;Разработка на мобилни приложения&quot; - iPhone, Android, Windows Phone, PhoneGap, HTML5, jQuery, AJAX"/>
            </p:cNvPr>
            <p:cNvSpPr txBox="1"/>
            <p:nvPr userDrawn="1"/>
          </p:nvSpPr>
          <p:spPr>
            <a:xfrm flipH="1">
              <a:off x="3404043" y="2718405"/>
              <a:ext cx="205856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 мобилни приложения с iPhone, Android, WP7, PhoneGap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6" name="TextBox 45">
              <a:hlinkClick r:id="rId17" tooltip="Free C# Programming Book by Svetlin Nakov - безплатна C# книга от Светлин Наков, книга C#, книга Java, безплатна книга"/>
            </p:cNvPr>
            <p:cNvSpPr txBox="1"/>
            <p:nvPr userDrawn="1"/>
          </p:nvSpPr>
          <p:spPr>
            <a:xfrm flipH="1">
              <a:off x="1440317" y="3117785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free C# book, безплатна книга C#, книга Java, книга C#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7" name="TextBox 46">
              <a:hlinkClick r:id="rId18" tooltip="Дончо Минков - сайт за програмиране"/>
            </p:cNvPr>
            <p:cNvSpPr txBox="1"/>
            <p:nvPr userDrawn="1"/>
          </p:nvSpPr>
          <p:spPr>
            <a:xfrm flipH="1">
              <a:off x="3401370" y="2963513"/>
              <a:ext cx="147501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Дончо Минков - сайт за програмиране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  <p:sp>
          <p:nvSpPr>
            <p:cNvPr id="48" name="TextBox 47">
              <a:hlinkClick r:id="rId19" tooltip="Николай Костов - блог за програмиране"/>
            </p:cNvPr>
            <p:cNvSpPr txBox="1"/>
            <p:nvPr userDrawn="1"/>
          </p:nvSpPr>
          <p:spPr>
            <a:xfrm flipH="1">
              <a:off x="3401423" y="3217864"/>
              <a:ext cx="151340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Николай Костов - блог за програмиране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9" name="TextBox 48">
              <a:hlinkClick r:id="rId20" tooltip="безплатен C# курс в софтуерната академия на Наков"/>
            </p:cNvPr>
            <p:cNvSpPr txBox="1"/>
            <p:nvPr userDrawn="1"/>
          </p:nvSpPr>
          <p:spPr>
            <a:xfrm flipH="1">
              <a:off x="3398079" y="3548402"/>
              <a:ext cx="1359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C# курс, програмиране, безплатно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524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9" name="TextBox 8">
            <a:hlinkClick r:id="rId2" tooltip="Форум за програмиране и уеб дизайн - дискусии, съвети, въпроси и отговори @ Софтуерна академия на Телерик"/>
          </p:cNvPr>
          <p:cNvSpPr txBox="1"/>
          <p:nvPr userDrawn="1"/>
        </p:nvSpPr>
        <p:spPr>
          <a:xfrm rot="12041701" flipH="1">
            <a:off x="7471619" y="3840481"/>
            <a:ext cx="890352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b="1" dirty="0" smtClean="0">
                <a:solidFill>
                  <a:schemeClr val="tx1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9600" b="1" dirty="0">
              <a:solidFill>
                <a:schemeClr val="tx1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1" name="TextBox 10">
            <a:hlinkClick r:id="rId4" tooltip="Програмиране за деца - безплатно в Телерик кидс академия"/>
          </p:cNvPr>
          <p:cNvSpPr txBox="1"/>
          <p:nvPr userDrawn="1"/>
        </p:nvSpPr>
        <p:spPr>
          <a:xfrm rot="9535351" flipH="1">
            <a:off x="923386" y="1861198"/>
            <a:ext cx="673363" cy="14465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OffAxis1Righ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8800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8800" dirty="0">
              <a:solidFill>
                <a:schemeClr val="accent5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extBox 11">
            <a:hlinkClick r:id="rId5" tooltip="Безплатен SEO курс - оптимизация за търсачки, уроци по SEO"/>
          </p:cNvPr>
          <p:cNvSpPr txBox="1"/>
          <p:nvPr userDrawn="1"/>
        </p:nvSpPr>
        <p:spPr>
          <a:xfrm rot="16938170" flipH="1">
            <a:off x="4905823" y="966542"/>
            <a:ext cx="859648" cy="19928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11500" b="1" dirty="0" smtClean="0">
                <a:solidFill>
                  <a:srgbClr val="FF831D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1500" b="1" dirty="0">
              <a:solidFill>
                <a:srgbClr val="FF831D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3" name="TextBox 12">
            <a:hlinkClick r:id="rId6" tooltip="Безплатен курс &quot;Уеб дизайн с HTML, CSS и JavaScript&quot; - уроци по правене на уеб сайтове, HTML, CSS, Photoshop, JavaScript и CMS системи"/>
          </p:cNvPr>
          <p:cNvSpPr txBox="1"/>
          <p:nvPr userDrawn="1"/>
        </p:nvSpPr>
        <p:spPr>
          <a:xfrm rot="19836951" flipH="1">
            <a:off x="7379010" y="1495154"/>
            <a:ext cx="949687" cy="20621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12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2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innerShdw blurRad="63500" dist="50800" dir="8100000">
                  <a:prstClr val="black">
                    <a:alpha val="50000"/>
                  </a:prstClr>
                </a:inn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4" name="TextBox 13">
            <a:hlinkClick r:id="rId7" tooltip="Училищна софтуерна академия - безплатни уроци по програмиране и уеб дизайн"/>
          </p:cNvPr>
          <p:cNvSpPr txBox="1"/>
          <p:nvPr userDrawn="1"/>
        </p:nvSpPr>
        <p:spPr>
          <a:xfrm rot="2233443" flipH="1">
            <a:off x="2139218" y="940065"/>
            <a:ext cx="445351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perspectiveHeroicExtremeLeftFacing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5600" dirty="0" smtClean="0">
                <a:solidFill>
                  <a:schemeClr val="tx2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5600" dirty="0">
              <a:solidFill>
                <a:schemeClr val="tx2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5" name="TextBox 14">
            <a:hlinkClick r:id="rId8" tooltip="Безплатен курс &quot;Програмиране с ASP.NET MVC&quot; - уеб технологии, бази данни, C#, .NET, ASP.NET MVC"/>
          </p:cNvPr>
          <p:cNvSpPr txBox="1"/>
          <p:nvPr userDrawn="1"/>
        </p:nvSpPr>
        <p:spPr>
          <a:xfrm rot="8530737" flipH="1">
            <a:off x="4757100" y="4722613"/>
            <a:ext cx="643173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dirty="0" smtClean="0">
                <a:solidFill>
                  <a:srgbClr val="FF4A37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?</a:t>
            </a:r>
            <a:endParaRPr lang="en-US" sz="9600" dirty="0">
              <a:solidFill>
                <a:srgbClr val="FF4A37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16" name="TextBox 15">
            <a:hlinkClick r:id="rId9" tooltip="Безплатен курс &quot;Разработка на софтуер в Cloud среда&quot; - AppEngine, AWS, Azure"/>
          </p:cNvPr>
          <p:cNvSpPr txBox="1"/>
          <p:nvPr userDrawn="1"/>
        </p:nvSpPr>
        <p:spPr>
          <a:xfrm rot="12627025" flipH="1">
            <a:off x="2910497" y="4405707"/>
            <a:ext cx="386488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7" name="TextBox 16">
            <a:hlinkClick r:id="rId10" tooltip="BG Coder - онлайн състезателна система - тренировки за състезания по програмиране - online judge"/>
          </p:cNvPr>
          <p:cNvSpPr txBox="1"/>
          <p:nvPr userDrawn="1"/>
        </p:nvSpPr>
        <p:spPr>
          <a:xfrm rot="1186146" flipH="1">
            <a:off x="6185957" y="4125718"/>
            <a:ext cx="4993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</a:sp3d>
          </a:bodyPr>
          <a:lstStyle/>
          <a:p>
            <a:r>
              <a:rPr lang="en-US" sz="6600" dirty="0" smtClean="0">
                <a:solidFill>
                  <a:srgbClr val="9966FF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6600" dirty="0">
              <a:solidFill>
                <a:srgbClr val="9966FF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8" name="TextBox 17">
            <a:hlinkClick r:id="rId11" tooltip="Светлин Наков - курсове и уроци по програмиране, уеб дизайн, книги, обучения - безплатно"/>
          </p:cNvPr>
          <p:cNvSpPr txBox="1"/>
          <p:nvPr userDrawn="1"/>
        </p:nvSpPr>
        <p:spPr>
          <a:xfrm rot="19460650" flipH="1">
            <a:off x="3150206" y="1979501"/>
            <a:ext cx="489197" cy="769441"/>
          </a:xfrm>
          <a:prstGeom prst="rect">
            <a:avLst/>
          </a:prstGeom>
          <a:noFill/>
        </p:spPr>
        <p:txBody>
          <a:bodyPr wrap="square" rtlCol="0">
            <a:prstTxWarp prst="textInflate">
              <a:avLst/>
            </a:prstTxWarp>
            <a:spAutoFit/>
            <a:scene3d>
              <a:camera prst="perspectiveRelaxedModerately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solidFill>
                  <a:srgbClr val="FF6699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solidFill>
                <a:srgbClr val="FF6699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9" name="TextBox 18">
            <a:hlinkClick r:id="rId12" tooltip="Безплатен курс &quot;Качествен програмен код&quot;"/>
          </p:cNvPr>
          <p:cNvSpPr txBox="1"/>
          <p:nvPr userDrawn="1"/>
        </p:nvSpPr>
        <p:spPr>
          <a:xfrm rot="18277140" flipH="1">
            <a:off x="405234" y="3272336"/>
            <a:ext cx="41360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0" name="TextBox 19">
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</p:cNvPr>
          <p:cNvSpPr txBox="1"/>
          <p:nvPr userDrawn="1"/>
        </p:nvSpPr>
        <p:spPr>
          <a:xfrm rot="18695734" flipH="1">
            <a:off x="3127407" y="5396299"/>
            <a:ext cx="548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?</a:t>
            </a:r>
            <a:endParaRPr lang="en-US" sz="6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21" name="TextBox 20">
            <a:hlinkClick r:id="rId14" tooltip="Безплатен ASP.NET курс - уеб програмиране, бази данни, C#, .NET, ASP.NET"/>
          </p:cNvPr>
          <p:cNvSpPr txBox="1"/>
          <p:nvPr userDrawn="1"/>
        </p:nvSpPr>
        <p:spPr>
          <a:xfrm rot="10134629" flipH="1">
            <a:off x="6730680" y="5522529"/>
            <a:ext cx="44439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000" dirty="0"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2" name="TextBox 21">
            <a:hlinkClick r:id="rId15" tooltip="Софтуерна академия на Телерик - безплатни курсове и уроци по програмиране"/>
          </p:cNvPr>
          <p:cNvSpPr txBox="1"/>
          <p:nvPr userDrawn="1"/>
        </p:nvSpPr>
        <p:spPr>
          <a:xfrm rot="12126217" flipH="1">
            <a:off x="559977" y="930479"/>
            <a:ext cx="387894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sz="4000" b="1" spc="150" dirty="0" smtClean="0">
                <a:ln w="1143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?</a:t>
            </a:r>
            <a:endParaRPr lang="en-US" sz="4000" b="1" spc="150" dirty="0">
              <a:ln w="1143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23" name="TextBox 22">
            <a:hlinkClick r:id="rId16" tooltip="Безплатен курс &quot;Разработка на мобилни приложения&quot; - iPhone, Android, Windows Phone, PhoneGap, HTML5, jQuery, AJAX"/>
          </p:cNvPr>
          <p:cNvSpPr txBox="1"/>
          <p:nvPr userDrawn="1"/>
        </p:nvSpPr>
        <p:spPr>
          <a:xfrm rot="20840689" flipH="1">
            <a:off x="8186733" y="5517701"/>
            <a:ext cx="357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n w="19050">
                  <a:solidFill>
                    <a:schemeClr val="accent4">
                      <a:lumMod val="75000"/>
                      <a:alpha val="5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20000"/>
                    <a:lumOff val="80000"/>
                    <a:alpha val="25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?</a:t>
            </a:r>
            <a:endParaRPr lang="en-US" sz="4000" b="1" dirty="0">
              <a:ln w="19050">
                <a:solidFill>
                  <a:schemeClr val="accent4">
                    <a:lumMod val="75000"/>
                    <a:alpha val="5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20000"/>
                  <a:lumOff val="80000"/>
                  <a:alpha val="25000"/>
                </a:schemeClr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4" name="TextBox 23">
            <a:hlinkClick r:id="rId17" tooltip="Free C# Programming Book by Svetlin Nakov - безплатна C# книга от Светлин Наков, книга C#, книга Java, безплатна книга"/>
          </p:cNvPr>
          <p:cNvSpPr txBox="1"/>
          <p:nvPr userDrawn="1"/>
        </p:nvSpPr>
        <p:spPr>
          <a:xfrm rot="15426793" flipH="1">
            <a:off x="1145826" y="4072253"/>
            <a:ext cx="369652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5" name="TextBox 24">
            <a:hlinkClick r:id="rId18" tooltip="Дончо Минков - сайт за програмиране"/>
          </p:cNvPr>
          <p:cNvSpPr txBox="1"/>
          <p:nvPr userDrawn="1"/>
        </p:nvSpPr>
        <p:spPr>
          <a:xfrm rot="11071760" flipH="1">
            <a:off x="6518175" y="1140358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dirty="0" smtClean="0">
                <a:ln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2800" dirty="0">
              <a:ln>
                <a:solidFill>
                  <a:schemeClr val="tx1">
                    <a:lumMod val="75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6" name="TextBox 25">
            <a:hlinkClick r:id="rId19" tooltip="Николай Костов - блог за програмиране"/>
          </p:cNvPr>
          <p:cNvSpPr txBox="1"/>
          <p:nvPr userDrawn="1"/>
        </p:nvSpPr>
        <p:spPr>
          <a:xfrm rot="300526" flipH="1">
            <a:off x="3902297" y="1278821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b="1" dirty="0" smtClean="0">
                <a:ln w="31550" cmpd="sng">
                  <a:solidFill>
                    <a:schemeClr val="tx2">
                      <a:lumMod val="20000"/>
                      <a:lumOff val="80000"/>
                    </a:schemeClr>
                  </a:solidFill>
                  <a:prstDash val="solid"/>
                </a:ln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?</a:t>
            </a:r>
            <a:endParaRPr lang="en-US" sz="2800" dirty="0">
              <a:ln w="31550" cmpd="sng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</a:ln>
              <a:solidFill>
                <a:schemeClr val="tx1">
                  <a:lumMod val="20000"/>
                  <a:lumOff val="8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7" name="TextBox 26">
            <a:hlinkClick r:id="rId20" tooltip="C# курс - програмиране, уроци, видео, лекции от Наков"/>
          </p:cNvPr>
          <p:cNvSpPr txBox="1"/>
          <p:nvPr userDrawn="1"/>
        </p:nvSpPr>
        <p:spPr>
          <a:xfrm rot="2086872" flipH="1">
            <a:off x="8330354" y="1359227"/>
            <a:ext cx="44439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200" dirty="0" smtClean="0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200" dirty="0"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1828800" y="2903716"/>
            <a:ext cx="5486400" cy="1261884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7600" b="1" spc="150" noProof="0" dirty="0" smtClean="0">
                <a:ln w="11430"/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rPr>
              <a:t>Questions?</a:t>
            </a:r>
            <a:endParaRPr lang="en-US" sz="7600" b="1" spc="150" dirty="0">
              <a:ln w="11430"/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n-lt"/>
            </a:endParaRPr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6807131" y="6400800"/>
            <a:ext cx="2218556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 smtClean="0"/>
              <a:t>Course web site URL</a:t>
            </a:r>
            <a:endParaRPr lang="en-US" dirty="0"/>
          </a:p>
        </p:txBody>
      </p:sp>
      <p:sp>
        <p:nvSpPr>
          <p:cNvPr id="10" name="TextBox 9">
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</p:cNvPr>
          <p:cNvSpPr txBox="1"/>
          <p:nvPr userDrawn="1"/>
        </p:nvSpPr>
        <p:spPr>
          <a:xfrm rot="2456848" flipH="1">
            <a:off x="968763" y="4970087"/>
            <a:ext cx="859648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>
              <a:lnSpc>
                <a:spcPct val="80000"/>
              </a:lnSpc>
            </a:pPr>
            <a:r>
              <a:rPr lang="en-US" sz="12000" b="1" dirty="0" smtClean="0">
                <a:solidFill>
                  <a:srgbClr val="FFBF8B"/>
                </a:solidFill>
                <a:effectLst>
                  <a:reflection blurRad="6350" stA="55000" endA="300" endPos="45500" dir="5400000" sy="-100000" algn="bl" rotWithShape="0"/>
                </a:effectLst>
                <a:latin typeface="Cambria" pitchFamily="18" charset="0"/>
              </a:rPr>
              <a:t>?</a:t>
            </a:r>
            <a:endParaRPr lang="en-US" sz="12000" b="1" dirty="0">
              <a:solidFill>
                <a:srgbClr val="FFBF8B"/>
              </a:solidFill>
              <a:effectLst>
                <a:reflection blurRad="6350" stA="55000" endA="300" endPos="45500" dir="5400000" sy="-100000" algn="bl" rotWithShape="0"/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"/>
          <p:cNvPicPr>
            <a:picLocks noChangeAspect="1" noChangeArrowheads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00"/>
            <a:ext cx="9144000" cy="590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247650"/>
            <a:ext cx="9144000" cy="483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52400" y="228600"/>
            <a:ext cx="1714500" cy="428625"/>
          </a:xfrm>
          <a:prstGeom prst="rect">
            <a:avLst/>
          </a:prstGeom>
          <a:noFill/>
          <a:effectLst>
            <a:outerShdw blurRad="127000" sx="101000" sy="101000" algn="ctr" rotWithShape="0">
              <a:schemeClr val="tx1">
                <a:lumMod val="20000"/>
                <a:lumOff val="80000"/>
                <a:alpha val="7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688" r:id="rId2"/>
    <p:sldLayoutId id="2147483704" r:id="rId3"/>
    <p:sldLayoutId id="2147483689" r:id="rId4"/>
    <p:sldLayoutId id="2147483703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r" rtl="0" eaLnBrk="0" fontAlgn="base" hangingPunct="0">
        <a:lnSpc>
          <a:spcPts val="4400"/>
        </a:lnSpc>
        <a:spcBef>
          <a:spcPct val="0"/>
        </a:spcBef>
        <a:spcAft>
          <a:spcPct val="0"/>
        </a:spcAft>
        <a:defRPr sz="4400" b="1" kern="1200" baseline="0">
          <a:ln w="500">
            <a:noFill/>
          </a:ln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9pPr>
    </p:titleStyle>
    <p:bodyStyle>
      <a:lvl1pPr marL="319088" indent="-319088" algn="l" rtl="0" eaLnBrk="0" fontAlgn="base" hangingPunct="0">
        <a:spcBef>
          <a:spcPct val="20000"/>
        </a:spcBef>
        <a:spcAft>
          <a:spcPct val="0"/>
        </a:spcAft>
        <a:buClr>
          <a:schemeClr val="accent5">
            <a:lumMod val="40000"/>
            <a:lumOff val="60000"/>
          </a:schemeClr>
        </a:buClr>
        <a:buSzPct val="70000"/>
        <a:buFont typeface="Wingdings 2" pitchFamily="18" charset="2"/>
        <a:buChar char=""/>
        <a:defRPr sz="32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30238" indent="-273050" algn="l" rtl="0" eaLnBrk="0" fontAlgn="base" hangingPunct="0">
        <a:spcBef>
          <a:spcPct val="20000"/>
        </a:spcBef>
        <a:spcAft>
          <a:spcPct val="0"/>
        </a:spcAft>
        <a:buClr>
          <a:schemeClr val="accent2">
            <a:lumMod val="60000"/>
            <a:lumOff val="40000"/>
          </a:schemeClr>
        </a:buClr>
        <a:buFont typeface="Wingdings 2" pitchFamily="18" charset="2"/>
        <a:buChar char=""/>
        <a:defRPr sz="30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922338" indent="-273050" algn="l" rtl="0" eaLnBrk="0" fontAlgn="base" hangingPunct="0">
        <a:spcBef>
          <a:spcPct val="20000"/>
        </a:spcBef>
        <a:spcAft>
          <a:spcPct val="0"/>
        </a:spcAft>
        <a:buClr>
          <a:schemeClr val="tx1">
            <a:lumMod val="50000"/>
          </a:schemeClr>
        </a:buClr>
        <a:buFont typeface="Wingdings 2" pitchFamily="18" charset="2"/>
        <a:buChar char=""/>
        <a:defRPr sz="28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187450" indent="-228600" algn="l" rtl="0" eaLnBrk="0" fontAlgn="base" hangingPunct="0">
        <a:spcBef>
          <a:spcPct val="20000"/>
        </a:spcBef>
        <a:spcAft>
          <a:spcPct val="0"/>
        </a:spcAft>
        <a:buClr>
          <a:srgbClr val="F8BD52"/>
        </a:buClr>
        <a:buFont typeface="Wingdings 2" pitchFamily="18" charset="2"/>
        <a:buChar char=""/>
        <a:defRPr sz="26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425575" indent="-228600" algn="l" rtl="0" eaLnBrk="0" fontAlgn="base" hangingPunct="0">
        <a:spcBef>
          <a:spcPct val="20000"/>
        </a:spcBef>
        <a:spcAft>
          <a:spcPct val="0"/>
        </a:spcAft>
        <a:buClr>
          <a:srgbClr val="46A6BD"/>
        </a:buClr>
        <a:buFont typeface="Wingdings 2" pitchFamily="18" charset="2"/>
        <a:buChar char=""/>
        <a:defRPr sz="24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673352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096" indent="-228600" algn="l" rtl="0" eaLnBrk="1" latinLnBrk="0" hangingPunct="1">
        <a:spcBef>
          <a:spcPct val="20000"/>
        </a:spcBef>
        <a:buClr>
          <a:schemeClr val="tx2"/>
        </a:buClr>
        <a:buFont typeface="Wingdings 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408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22576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endoui.com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://docs.kendoui.com/getting-started/using-kendo-with/aspnet-mvc/introduction#using-kendo-ui-in-asp.net-mvc-4-application" TargetMode="Externa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endoui.com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schoolacademy.telerik.com/" TargetMode="Externa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://facebook.com/TelerikAcademy" TargetMode="External"/><Relationship Id="rId3" Type="http://schemas.openxmlformats.org/officeDocument/2006/relationships/hyperlink" Target="http://academy.telerik.com/" TargetMode="External"/><Relationship Id="rId7" Type="http://schemas.openxmlformats.org/officeDocument/2006/relationships/image" Target="../media/image18.png"/><Relationship Id="rId2" Type="http://schemas.openxmlformats.org/officeDocument/2006/relationships/hyperlink" Target="http://csharpfundamentals.telerik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://forums.academy.telerik.com/" TargetMode="External"/><Relationship Id="rId10" Type="http://schemas.openxmlformats.org/officeDocument/2006/relationships/image" Target="../media/image20.png"/><Relationship Id="rId4" Type="http://schemas.openxmlformats.org/officeDocument/2006/relationships/hyperlink" Target="http://www.facebook.com/telerikacademy" TargetMode="External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19400" y="2362200"/>
            <a:ext cx="5867400" cy="1524000"/>
          </a:xfrm>
        </p:spPr>
        <p:txBody>
          <a:bodyPr/>
          <a:lstStyle/>
          <a:p>
            <a:r>
              <a:rPr lang="en-US" dirty="0"/>
              <a:t>Kendo UI ASP.NET MVC Wrappers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33400" y="4800600"/>
            <a:ext cx="3352800" cy="533400"/>
          </a:xfrm>
        </p:spPr>
        <p:txBody>
          <a:bodyPr/>
          <a:lstStyle/>
          <a:p>
            <a:r>
              <a:rPr lang="en-US" dirty="0" smtClean="0"/>
              <a:t>Ivaylo </a:t>
            </a:r>
            <a:r>
              <a:rPr lang="en-US" dirty="0" err="1" smtClean="0"/>
              <a:t>Kenov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5791200"/>
            <a:ext cx="3352800" cy="369332"/>
          </a:xfrm>
        </p:spPr>
        <p:txBody>
          <a:bodyPr/>
          <a:lstStyle/>
          <a:p>
            <a:r>
              <a:rPr lang="en-US" dirty="0"/>
              <a:t>Telerik Software Academy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5339462"/>
            <a:ext cx="3352800" cy="446276"/>
          </a:xfrm>
        </p:spPr>
        <p:txBody>
          <a:bodyPr/>
          <a:lstStyle/>
          <a:p>
            <a:pPr marL="0"/>
            <a:r>
              <a:rPr lang="en-US" dirty="0" smtClean="0"/>
              <a:t>Technical Assistant</a:t>
            </a:r>
            <a:endParaRPr lang="en-US" dirty="0"/>
          </a:p>
        </p:txBody>
      </p:sp>
      <p:pic>
        <p:nvPicPr>
          <p:cNvPr id="9" name="Picture 2" descr="http://www.davidhayden.me/media/default/posts/ASP.NET-MVC-4-Bundling-and-Minifica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797943"/>
            <a:ext cx="3951970" cy="13356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6146" name="Picture 2" descr="http://www.awdp.org/images/marketing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580" y="4572000"/>
            <a:ext cx="246182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72137" y="4572000"/>
            <a:ext cx="1816101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 descr="http://www.telerik.com/assets/img/home-page/slide-4-01.01.2013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8721"/>
            <a:ext cx="2164279" cy="20831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147179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</a:t>
            </a:r>
            <a:r>
              <a:rPr lang="en-US" smtClean="0"/>
              <a:t>of Contents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686800" cy="5791200"/>
          </a:xfrm>
        </p:spPr>
        <p:txBody>
          <a:bodyPr/>
          <a:lstStyle/>
          <a:p>
            <a:r>
              <a:rPr lang="en-US" dirty="0" smtClean="0"/>
              <a:t>Kendo UI Summary and Installation</a:t>
            </a:r>
          </a:p>
          <a:p>
            <a:r>
              <a:rPr lang="en-US" dirty="0" smtClean="0"/>
              <a:t>Kendo HTML Helpers</a:t>
            </a:r>
          </a:p>
          <a:p>
            <a:r>
              <a:rPr lang="en-US" dirty="0" smtClean="0"/>
              <a:t>Kendo Widgets</a:t>
            </a:r>
          </a:p>
          <a:p>
            <a:r>
              <a:rPr lang="en-US" dirty="0" smtClean="0"/>
              <a:t>Kendo Grid</a:t>
            </a:r>
          </a:p>
          <a:p>
            <a:r>
              <a:rPr lang="en-US" dirty="0" smtClean="0"/>
              <a:t>Kendo DataViz</a:t>
            </a:r>
          </a:p>
          <a:p>
            <a:r>
              <a:rPr lang="en-US" dirty="0" smtClean="0"/>
              <a:t>Live Application Build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5" name="Picture 5" descr="C:\Users\nkostov\Desktop\Untitl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502284">
            <a:off x="4618399" y="3439981"/>
            <a:ext cx="4482227" cy="373518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871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066800"/>
            <a:ext cx="7924800" cy="685800"/>
          </a:xfrm>
        </p:spPr>
        <p:txBody>
          <a:bodyPr/>
          <a:lstStyle/>
          <a:p>
            <a:r>
              <a:rPr lang="en-US" dirty="0" smtClean="0"/>
              <a:t>Kendo UI</a:t>
            </a:r>
            <a:endParaRPr lang="en-US" dirty="0"/>
          </a:p>
        </p:txBody>
      </p:sp>
      <p:pic>
        <p:nvPicPr>
          <p:cNvPr id="5122" name="Picture 2" descr="http://www.telerik.com/assets/img/home-page/slide-4-01.01.201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362200"/>
            <a:ext cx="3510149" cy="33785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533400" y="1676400"/>
            <a:ext cx="7924800" cy="569120"/>
          </a:xfrm>
        </p:spPr>
        <p:txBody>
          <a:bodyPr/>
          <a:lstStyle/>
          <a:p>
            <a:r>
              <a:rPr lang="en-US" dirty="0" smtClean="0">
                <a:hlinkClick r:id="rId3"/>
              </a:rPr>
              <a:t>http://www.kendoui.com/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424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Kendo UI?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Framework for building modern interactive web </a:t>
            </a:r>
            <a:r>
              <a:rPr lang="en-US" dirty="0" smtClean="0"/>
              <a:t>applications</a:t>
            </a:r>
          </a:p>
          <a:p>
            <a:r>
              <a:rPr lang="en-US" dirty="0"/>
              <a:t>Collection of script files and resources (styles, images, etc</a:t>
            </a:r>
            <a:r>
              <a:rPr lang="en-US" dirty="0" smtClean="0"/>
              <a:t>.)</a:t>
            </a:r>
          </a:p>
          <a:p>
            <a:r>
              <a:rPr lang="en-US" dirty="0" smtClean="0"/>
              <a:t>Leverages</a:t>
            </a:r>
            <a:endParaRPr lang="en-US" dirty="0"/>
          </a:p>
          <a:p>
            <a:pPr lvl="1"/>
            <a:r>
              <a:rPr lang="en-US" dirty="0" smtClean="0"/>
              <a:t>JavaScript</a:t>
            </a:r>
            <a:endParaRPr lang="en-US" dirty="0"/>
          </a:p>
          <a:p>
            <a:pPr lvl="1"/>
            <a:r>
              <a:rPr lang="en-US" dirty="0" smtClean="0"/>
              <a:t>HTML5</a:t>
            </a:r>
            <a:endParaRPr lang="en-US" dirty="0"/>
          </a:p>
          <a:p>
            <a:pPr lvl="1"/>
            <a:r>
              <a:rPr lang="en-US" dirty="0" smtClean="0"/>
              <a:t>CSS3</a:t>
            </a:r>
            <a:endParaRPr lang="en-US" dirty="0"/>
          </a:p>
          <a:p>
            <a:pPr lvl="1"/>
            <a:r>
              <a:rPr lang="en-US" dirty="0" err="1"/>
              <a:t>jQuery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6146" name="Picture 2" descr="http://www.kendoui.com/Libraries/Banners/kendo-home-5th-banner.sflb.ash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494" y="2819400"/>
            <a:ext cx="4540506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3761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Kendo UI Provide?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Rich UI </a:t>
            </a:r>
            <a:r>
              <a:rPr lang="en-US" dirty="0" smtClean="0"/>
              <a:t>Widgets</a:t>
            </a:r>
          </a:p>
          <a:p>
            <a:pPr lvl="1"/>
            <a:r>
              <a:rPr lang="en-US" dirty="0"/>
              <a:t>HTML5 controls based on </a:t>
            </a:r>
            <a:r>
              <a:rPr lang="en-US" dirty="0" err="1"/>
              <a:t>jQuery</a:t>
            </a:r>
            <a:r>
              <a:rPr lang="en-US" dirty="0"/>
              <a:t> Core</a:t>
            </a:r>
          </a:p>
          <a:p>
            <a:pPr lvl="1"/>
            <a:r>
              <a:rPr lang="en-US" dirty="0"/>
              <a:t>3 categories of UI Widgets</a:t>
            </a:r>
          </a:p>
          <a:p>
            <a:pPr lvl="2"/>
            <a:r>
              <a:rPr lang="en-US" dirty="0" smtClean="0"/>
              <a:t>Web</a:t>
            </a:r>
          </a:p>
          <a:p>
            <a:pPr lvl="2"/>
            <a:r>
              <a:rPr lang="en-US" dirty="0" smtClean="0"/>
              <a:t>DataViz</a:t>
            </a:r>
          </a:p>
          <a:p>
            <a:pPr lvl="2"/>
            <a:r>
              <a:rPr lang="en-US" dirty="0" smtClean="0"/>
              <a:t>Mobile</a:t>
            </a:r>
          </a:p>
          <a:p>
            <a:r>
              <a:rPr lang="en-US" dirty="0" smtClean="0"/>
              <a:t>Client-side </a:t>
            </a:r>
            <a:r>
              <a:rPr lang="en-US" dirty="0" err="1" smtClean="0"/>
              <a:t>DataSource</a:t>
            </a:r>
            <a:endParaRPr lang="en-US" dirty="0"/>
          </a:p>
          <a:p>
            <a:pPr lvl="1"/>
            <a:r>
              <a:rPr lang="en-US" dirty="0"/>
              <a:t>Abstraction for working </a:t>
            </a:r>
            <a:r>
              <a:rPr lang="en-US" dirty="0" smtClean="0"/>
              <a:t>with </a:t>
            </a:r>
            <a:r>
              <a:rPr lang="en-US" dirty="0"/>
              <a:t>all types of data on the client side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7170" name="Picture 2" descr="http://www.kendoui.com/Libraries/Banners/dataviz-home-image-q2.sflb.ash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362200"/>
            <a:ext cx="3648075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4858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Kendo UI </a:t>
            </a:r>
            <a:r>
              <a:rPr lang="en-US" dirty="0" smtClean="0"/>
              <a:t>Provide?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MVVM Framework</a:t>
            </a:r>
            <a:endParaRPr lang="en-US" b="0" dirty="0"/>
          </a:p>
          <a:p>
            <a:pPr lvl="1"/>
            <a:r>
              <a:rPr lang="en-US" dirty="0"/>
              <a:t>Provides declarative binding and two-way data synchronization in your web </a:t>
            </a:r>
            <a:r>
              <a:rPr lang="en-US" dirty="0" smtClean="0"/>
              <a:t>application</a:t>
            </a:r>
          </a:p>
          <a:p>
            <a:r>
              <a:rPr lang="en-US" dirty="0" smtClean="0"/>
              <a:t>Animation </a:t>
            </a:r>
            <a:r>
              <a:rPr lang="en-US" dirty="0"/>
              <a:t>and Drag &amp; </a:t>
            </a:r>
            <a:r>
              <a:rPr lang="en-US" dirty="0" smtClean="0"/>
              <a:t>Drop</a:t>
            </a:r>
          </a:p>
          <a:p>
            <a:r>
              <a:rPr lang="en-US" dirty="0" smtClean="0"/>
              <a:t>Templating</a:t>
            </a:r>
            <a:endParaRPr lang="en-US" dirty="0"/>
          </a:p>
          <a:p>
            <a:r>
              <a:rPr lang="en-US" dirty="0" smtClean="0"/>
              <a:t>Validation </a:t>
            </a:r>
            <a:r>
              <a:rPr lang="en-US" dirty="0"/>
              <a:t>Framework </a:t>
            </a:r>
            <a:endParaRPr lang="en-US" b="0" dirty="0"/>
          </a:p>
          <a:p>
            <a:r>
              <a:rPr lang="en-US" dirty="0" smtClean="0"/>
              <a:t>Server wrappers</a:t>
            </a:r>
          </a:p>
          <a:p>
            <a:pPr lvl="1"/>
            <a:r>
              <a:rPr lang="en-US" dirty="0" smtClean="0"/>
              <a:t>ASP.NET MVC</a:t>
            </a:r>
          </a:p>
          <a:p>
            <a:pPr lvl="1"/>
            <a:r>
              <a:rPr lang="en-US" dirty="0" smtClean="0"/>
              <a:t>Java and PHP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8194" name="Picture 2" descr="http://www.kendoui.com/Libraries/Banners/q3-2012.sflb.ash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581400"/>
            <a:ext cx="3438525" cy="268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9219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Include Kendo UI in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486400"/>
          </a:xfrm>
        </p:spPr>
        <p:txBody>
          <a:bodyPr/>
          <a:lstStyle/>
          <a:p>
            <a:r>
              <a:rPr lang="en-US" dirty="0" smtClean="0"/>
              <a:t>Download Kendo </a:t>
            </a:r>
            <a:r>
              <a:rPr lang="en-US" dirty="0"/>
              <a:t>UI Complete for </a:t>
            </a:r>
            <a:r>
              <a:rPr lang="en-US" dirty="0" smtClean="0"/>
              <a:t>MVC</a:t>
            </a:r>
            <a:endParaRPr lang="en-US" dirty="0"/>
          </a:p>
          <a:p>
            <a:r>
              <a:rPr lang="en-US" dirty="0" smtClean="0"/>
              <a:t>Copy and </a:t>
            </a:r>
            <a:r>
              <a:rPr lang="en-US" dirty="0"/>
              <a:t>reference </a:t>
            </a:r>
            <a:r>
              <a:rPr lang="en-US" dirty="0" smtClean="0"/>
              <a:t>Kendo.Mvc.dll</a:t>
            </a:r>
          </a:p>
          <a:p>
            <a:pPr lvl="1"/>
            <a:r>
              <a:rPr lang="en-US" sz="2800" dirty="0" smtClean="0"/>
              <a:t>Located in: </a:t>
            </a:r>
            <a:r>
              <a:rPr lang="en-US" sz="28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...\wrappers\</a:t>
            </a:r>
            <a:r>
              <a:rPr lang="en-US" sz="2800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aspnetmvc</a:t>
            </a:r>
            <a:r>
              <a:rPr lang="en-US" sz="28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\Binaries\Mvc3</a:t>
            </a:r>
          </a:p>
          <a:p>
            <a:r>
              <a:rPr lang="en-US" dirty="0" smtClean="0"/>
              <a:t>Copy the provided version of </a:t>
            </a:r>
            <a:r>
              <a:rPr lang="en-US" dirty="0" err="1" smtClean="0"/>
              <a:t>jQuery</a:t>
            </a:r>
            <a:endParaRPr lang="en-US" dirty="0" smtClean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r>
              <a:rPr lang="en-US" dirty="0" smtClean="0"/>
              <a:t>Copy JavaScript files into 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~\Scripts\Kendo</a:t>
            </a:r>
          </a:p>
          <a:p>
            <a:pPr lvl="1"/>
            <a:r>
              <a:rPr lang="en-US" sz="2800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js</a:t>
            </a:r>
            <a:r>
              <a:rPr lang="en-US" sz="28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\kendo.all.min.js</a:t>
            </a:r>
            <a:r>
              <a:rPr lang="en-US" sz="2800" dirty="0" smtClean="0"/>
              <a:t> </a:t>
            </a:r>
            <a:r>
              <a:rPr lang="en-US" sz="2800" dirty="0"/>
              <a:t>and </a:t>
            </a:r>
            <a:r>
              <a:rPr lang="en-US" sz="28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js</a:t>
            </a:r>
            <a:r>
              <a:rPr lang="en-US" sz="28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\kendo.aspnetmvc.min.js</a:t>
            </a:r>
            <a:endParaRPr lang="en-US" sz="2800" dirty="0" smtClean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r>
              <a:rPr lang="en-US" dirty="0" smtClean="0"/>
              <a:t>Copy CSS files and images into 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~\Content</a:t>
            </a:r>
          </a:p>
          <a:p>
            <a:pPr lvl="1"/>
            <a:r>
              <a:rPr lang="en-US" sz="2800" dirty="0" smtClean="0"/>
              <a:t>All from </a:t>
            </a:r>
            <a:r>
              <a:rPr lang="en-US" sz="28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…\styles</a:t>
            </a:r>
            <a:r>
              <a:rPr lang="en-US" sz="2800" dirty="0" smtClean="0"/>
              <a:t> to </a:t>
            </a:r>
            <a:r>
              <a:rPr lang="en-US" sz="2800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ourProject</a:t>
            </a:r>
            <a:r>
              <a:rPr lang="en-US" sz="28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\Styles\Kendo</a:t>
            </a:r>
            <a:endParaRPr lang="en-US" sz="2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485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 </a:t>
            </a:r>
            <a:r>
              <a:rPr lang="en-US" dirty="0" smtClean="0"/>
              <a:t>Kendo UI </a:t>
            </a:r>
            <a:r>
              <a:rPr lang="en-US" dirty="0"/>
              <a:t>in </a:t>
            </a:r>
            <a:r>
              <a:rPr lang="en-US" dirty="0" smtClean="0"/>
              <a:t>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98968"/>
            <a:ext cx="8686800" cy="5791200"/>
          </a:xfrm>
        </p:spPr>
        <p:txBody>
          <a:bodyPr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dirty="0" smtClean="0"/>
              <a:t>Create bundles for </a:t>
            </a:r>
            <a:r>
              <a:rPr lang="en-US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jQuery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Kendo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endParaRPr lang="en-US" sz="2800" dirty="0"/>
          </a:p>
          <a:p>
            <a:pPr lvl="1">
              <a:spcBef>
                <a:spcPts val="400"/>
              </a:spcBef>
              <a:spcAft>
                <a:spcPts val="400"/>
              </a:spcAft>
            </a:pPr>
            <a:endParaRPr lang="en-US" sz="28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sz="28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sz="28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2800" dirty="0" smtClean="0"/>
              <a:t>Create bundles for CSS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sz="28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sz="2800" dirty="0" smtClean="0"/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sz="2800" dirty="0" smtClean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2800" dirty="0" smtClean="0"/>
              <a:t>Clear the ignore list for the bundles</a:t>
            </a:r>
            <a:endParaRPr lang="en-US" sz="2800"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93059" y="1344706"/>
            <a:ext cx="7669306" cy="224676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9pPr>
          </a:lstStyle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bundles.Add(new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ScriptBundle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("~/bundles/jquery").Include(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"~/Scripts/Kendo/jquery.min.js"));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bundles.Add(new    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ScriptBundle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("~/bundles/kendo").Include(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"~/Scripts/Kendo/kendo.web.min.js“,    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"~/Scripts/Kendo.kendo.aspnetmvc.min.js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"));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10988" y="4267200"/>
            <a:ext cx="7924800" cy="132343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9pPr>
          </a:lstStyle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bundles.Add(new </a:t>
            </a:r>
            <a:endParaRPr lang="en-US" sz="20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StyleBundle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("~/Content/kendo").Include(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"~/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Content/kendo.common.*",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"~/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Content/kendo.default.*"));</a:t>
            </a:r>
          </a:p>
        </p:txBody>
      </p:sp>
    </p:spTree>
    <p:extLst>
      <p:ext uri="{BB962C8B-B14F-4D97-AF65-F5344CB8AC3E}">
        <p14:creationId xmlns:p14="http://schemas.microsoft.com/office/powerpoint/2010/main" val="3206019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 </a:t>
            </a:r>
            <a:r>
              <a:rPr lang="en-US" dirty="0" smtClean="0"/>
              <a:t>Kendo UI </a:t>
            </a:r>
            <a:r>
              <a:rPr lang="en-US" dirty="0"/>
              <a:t>in </a:t>
            </a:r>
            <a:r>
              <a:rPr lang="en-US" dirty="0" smtClean="0"/>
              <a:t>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Register bundles (if not already)</a:t>
            </a:r>
          </a:p>
          <a:p>
            <a:endParaRPr lang="en-US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dirty="0" smtClean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dirty="0" smtClean="0"/>
          </a:p>
          <a:p>
            <a:r>
              <a:rPr lang="en-US" dirty="0" smtClean="0"/>
              <a:t>Render the bundles in your Layout page</a:t>
            </a:r>
          </a:p>
          <a:p>
            <a:endParaRPr lang="en-US" dirty="0" smtClean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19953" y="1524000"/>
            <a:ext cx="7924800" cy="193899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9pPr>
          </a:lstStyle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protected void Application_Start()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…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BundleConfig.RegisterBundles(BundleTable.Bundles);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…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19953" y="4267200"/>
            <a:ext cx="7924800" cy="163121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9pPr>
          </a:lstStyle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&lt;head&gt;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&lt;!-- other content --&gt;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@Styles.Render("~/Content/kendo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")    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@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Scripts.Render("~/bundles/kendo")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val="2470579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 </a:t>
            </a:r>
            <a:r>
              <a:rPr lang="en-US" dirty="0" smtClean="0"/>
              <a:t>Kendo UI </a:t>
            </a:r>
            <a:r>
              <a:rPr lang="en-US" dirty="0"/>
              <a:t>in </a:t>
            </a:r>
            <a:r>
              <a:rPr lang="en-US" dirty="0" smtClean="0"/>
              <a:t>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Kendo namespace in </a:t>
            </a:r>
            <a:r>
              <a:rPr lang="en-US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web.config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 smtClean="0"/>
              <a:t>for the 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Views </a:t>
            </a:r>
            <a:r>
              <a:rPr lang="en-US" dirty="0" smtClean="0"/>
              <a:t>folder</a:t>
            </a:r>
            <a:endParaRPr lang="en-US" dirty="0" smtClean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dirty="0" smtClean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dirty="0" smtClean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33400" y="2057400"/>
            <a:ext cx="7924800" cy="378565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9pPr>
          </a:lstStyle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&lt;system.web.webPages.razor&gt;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pages pageBaseType="System.Web.Mvc.WebViewPage"&gt;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&lt;namespaces&gt;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&lt;add namespace="System.Web.Mvc" /&gt;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&lt;add namespace="System.Web.Mvc.Ajax" /&gt;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&lt;add namespace="System.Web.Mvc.Html" /&gt;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&lt;add namespace="System.Web.Optimization"/&gt;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&lt;add namespace="System.Web.Routing" /&gt;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</a:t>
            </a:r>
            <a:r>
              <a:rPr lang="en-US" sz="2000" b="1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&lt;add namespace="Kendo.Mvc.UI"/&gt;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&lt;/namespaces&gt;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pages&gt;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system.web.webPages.razor&gt;</a:t>
            </a:r>
          </a:p>
        </p:txBody>
      </p:sp>
    </p:spTree>
    <p:extLst>
      <p:ext uri="{BB962C8B-B14F-4D97-AF65-F5344CB8AC3E}">
        <p14:creationId xmlns:p14="http://schemas.microsoft.com/office/powerpoint/2010/main" val="1484942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Kendo UI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Pure HTML and JavaScript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dirty="0" smtClean="0"/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dirty="0" smtClean="0"/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dirty="0" smtClean="0"/>
          </a:p>
          <a:p>
            <a:r>
              <a:rPr lang="en-US" dirty="0" smtClean="0"/>
              <a:t>ASP.NET MVC wrappers</a:t>
            </a:r>
          </a:p>
          <a:p>
            <a:endParaRPr lang="en-US" dirty="0"/>
          </a:p>
          <a:p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Kendo code MUST be after </a:t>
            </a:r>
            <a:r>
              <a:rPr lang="en-US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jQuery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reference!</a:t>
            </a:r>
            <a:endParaRPr lang="en-US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24000"/>
            <a:ext cx="3306253" cy="29038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286000"/>
            <a:ext cx="3676650" cy="8763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Left Arrow 6"/>
          <p:cNvSpPr/>
          <p:nvPr/>
        </p:nvSpPr>
        <p:spPr>
          <a:xfrm rot="9030484">
            <a:off x="2632252" y="3369486"/>
            <a:ext cx="2563875" cy="224085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328710"/>
            <a:ext cx="4562475" cy="2857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663" y="3481528"/>
            <a:ext cx="1952625" cy="2305050"/>
          </a:xfrm>
          <a:prstGeom prst="rect">
            <a:avLst/>
          </a:prstGeom>
        </p:spPr>
      </p:pic>
      <p:sp>
        <p:nvSpPr>
          <p:cNvPr id="10" name="Left Arrow 9"/>
          <p:cNvSpPr/>
          <p:nvPr/>
        </p:nvSpPr>
        <p:spPr>
          <a:xfrm rot="7281641">
            <a:off x="4774291" y="4509081"/>
            <a:ext cx="1707492" cy="224085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50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4953001"/>
            <a:ext cx="7924800" cy="685800"/>
          </a:xfrm>
        </p:spPr>
        <p:txBody>
          <a:bodyPr/>
          <a:lstStyle/>
          <a:p>
            <a:r>
              <a:rPr lang="en-US" dirty="0" smtClean="0"/>
              <a:t>Installing Kendo UI for MVC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304800" y="5715000"/>
            <a:ext cx="8534400" cy="457200"/>
          </a:xfrm>
        </p:spPr>
        <p:txBody>
          <a:bodyPr/>
          <a:lstStyle/>
          <a:p>
            <a:r>
              <a:rPr lang="en-US" dirty="0" smtClean="0"/>
              <a:t>Documentation </a:t>
            </a:r>
            <a:r>
              <a:rPr lang="en-US" dirty="0" smtClean="0">
                <a:hlinkClick r:id="rId2"/>
              </a:rPr>
              <a:t>here</a:t>
            </a:r>
            <a:r>
              <a:rPr lang="en-US" dirty="0" smtClean="0"/>
              <a:t>!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333" y="990600"/>
            <a:ext cx="3975335" cy="376244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790355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066800"/>
            <a:ext cx="7924800" cy="685800"/>
          </a:xfrm>
        </p:spPr>
        <p:txBody>
          <a:bodyPr/>
          <a:lstStyle/>
          <a:p>
            <a:r>
              <a:rPr lang="en-US" dirty="0" smtClean="0"/>
              <a:t>Kendo UI HTML Helpers</a:t>
            </a:r>
            <a:endParaRPr lang="en-US" dirty="0"/>
          </a:p>
        </p:txBody>
      </p:sp>
      <p:pic>
        <p:nvPicPr>
          <p:cNvPr id="5122" name="Picture 2" descr="http://www.telerik.com/assets/img/home-page/slide-4-01.01.201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362200"/>
            <a:ext cx="3510149" cy="33785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533400" y="1676400"/>
            <a:ext cx="7924800" cy="569120"/>
          </a:xfrm>
        </p:spPr>
        <p:txBody>
          <a:bodyPr/>
          <a:lstStyle/>
          <a:p>
            <a:r>
              <a:rPr lang="en-US" dirty="0" smtClean="0">
                <a:hlinkClick r:id="rId3"/>
              </a:rPr>
              <a:t>http://www.kendoui.com/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647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Kendo UI HTML Helpers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HTML Helpers</a:t>
            </a:r>
          </a:p>
          <a:p>
            <a:pPr lvl="1"/>
            <a:r>
              <a:rPr lang="en-US" dirty="0" smtClean="0"/>
              <a:t>Lightweight C# objects</a:t>
            </a:r>
          </a:p>
          <a:p>
            <a:pPr lvl="1"/>
            <a:r>
              <a:rPr lang="en-US" dirty="0" smtClean="0"/>
              <a:t>Auto-generate markup within a View</a:t>
            </a:r>
          </a:p>
          <a:p>
            <a:pPr lvl="1"/>
            <a:r>
              <a:rPr lang="en-US" dirty="0" smtClean="0"/>
              <a:t>Return HTML and JavaScript to the browser</a:t>
            </a:r>
          </a:p>
          <a:p>
            <a:pPr lvl="1"/>
            <a:r>
              <a:rPr lang="en-US" dirty="0" smtClean="0"/>
              <a:t>Provide Fluent API</a:t>
            </a:r>
          </a:p>
          <a:p>
            <a:pPr lvl="1"/>
            <a:r>
              <a:rPr lang="en-US" dirty="0" smtClean="0"/>
              <a:t>Can be used in both Web Forms and Razor</a:t>
            </a:r>
          </a:p>
          <a:p>
            <a:pPr lvl="1"/>
            <a:r>
              <a:rPr lang="en-US" dirty="0" smtClean="0"/>
              <a:t>Easily customized through JavaScript and </a:t>
            </a:r>
            <a:r>
              <a:rPr lang="en-US" dirty="0" err="1" smtClean="0"/>
              <a:t>jQuery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063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Kendo UI HTML Helpers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Some Web Widgets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AutoComplete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Calendar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 err="1" smtClean="0"/>
              <a:t>DropDownList</a:t>
            </a:r>
            <a:endParaRPr lang="en-US" dirty="0" smtClean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Upload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 err="1" smtClean="0"/>
              <a:t>TreeView</a:t>
            </a:r>
            <a:endParaRPr lang="en-US" dirty="0" smtClean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Grid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Some DataViz Widgets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Chart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LinearGauge</a:t>
            </a:r>
            <a:endParaRPr lang="en-US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RadialGauge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736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Kendo UI HTML Helpers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Usage of helpers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33400" y="1600200"/>
            <a:ext cx="7924800" cy="440120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9pPr>
          </a:lstStyle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@(Html.Kendo().Grid((IEnumerable&lt;Models.Product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              ViewBag.Products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.Name("grid")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.Columns(columns =&gt;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{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  columns.Bound(product =&gt; product.ProductID);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  columns.Bound(product =&gt; product.ProductName);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  columns.Bound(product =&gt; product.UnitsInStock);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})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.Pageable() 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.Sortable()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47979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4953001"/>
            <a:ext cx="7924800" cy="685800"/>
          </a:xfrm>
        </p:spPr>
        <p:txBody>
          <a:bodyPr/>
          <a:lstStyle/>
          <a:p>
            <a:r>
              <a:rPr lang="en-US" dirty="0" smtClean="0"/>
              <a:t>Kendo UI MVC Helpers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304800" y="5715000"/>
            <a:ext cx="8534400" cy="45720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333" y="990600"/>
            <a:ext cx="3975335" cy="376244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83813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76200"/>
            <a:ext cx="7086600" cy="1066800"/>
          </a:xfrm>
        </p:spPr>
        <p:txBody>
          <a:bodyPr/>
          <a:lstStyle/>
          <a:p>
            <a:r>
              <a:rPr lang="en-US" dirty="0"/>
              <a:t>Kendo UI ASP.NET MVC Wrappers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473176" y="6400800"/>
            <a:ext cx="3552511" cy="369332"/>
          </a:xfrm>
        </p:spPr>
        <p:txBody>
          <a:bodyPr/>
          <a:lstStyle/>
          <a:p>
            <a:r>
              <a:rPr lang="en-US" dirty="0">
                <a:hlinkClick r:id="rId2"/>
              </a:rPr>
              <a:t>http</a:t>
            </a:r>
            <a:r>
              <a:rPr lang="en-US" dirty="0" smtClean="0">
                <a:hlinkClick r:id="rId2"/>
              </a:rPr>
              <a:t>://schoolacademy.telerik.com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162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Homework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805343"/>
            <a:ext cx="8686800" cy="5791200"/>
          </a:xfrm>
        </p:spPr>
        <p:txBody>
          <a:bodyPr/>
          <a:lstStyle/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en-US" sz="2800" dirty="0" smtClean="0"/>
              <a:t>Create the </a:t>
            </a:r>
            <a:r>
              <a:rPr lang="en-US" sz="2800" dirty="0" err="1" smtClean="0"/>
              <a:t>WebForms</a:t>
            </a:r>
            <a:r>
              <a:rPr lang="en-US" sz="2800" dirty="0" smtClean="0"/>
              <a:t> “Library System” exam with ASP.NET MVC and Kendo UI Server Side Wrappers using as much widgets as you can: 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600" dirty="0" err="1" smtClean="0"/>
              <a:t>TreeView</a:t>
            </a:r>
            <a:r>
              <a:rPr lang="en-US" sz="2600" dirty="0" smtClean="0"/>
              <a:t> for the Home page</a:t>
            </a:r>
            <a:endParaRPr lang="en-US" sz="2600" dirty="0"/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600" dirty="0" smtClean="0"/>
              <a:t>Grid for the Administration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600" dirty="0" smtClean="0"/>
              <a:t>AutoComplete for the Search input 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600" dirty="0" err="1" smtClean="0"/>
              <a:t>DropDownList</a:t>
            </a:r>
            <a:r>
              <a:rPr lang="en-US" sz="2600" dirty="0" smtClean="0"/>
              <a:t> for category selection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600" dirty="0" smtClean="0"/>
              <a:t>Others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316758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Free Trainings @ Telerik Academy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638800"/>
          </a:xfrm>
        </p:spPr>
        <p:txBody>
          <a:bodyPr/>
          <a:lstStyle/>
          <a:p>
            <a:r>
              <a:rPr lang="en-US" dirty="0" smtClean="0"/>
              <a:t>“C# Programming @ Telerik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>
                <a:hlinkClick r:id="rId2"/>
              </a:rPr>
              <a:t>csharpfundamentals.telerik.com</a:t>
            </a:r>
            <a:endParaRPr lang="en-US" noProof="1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3" tooltip="Telerik Software Academy - Free Programming Courses"/>
              </a:rPr>
              <a:t>academy.telerik.com</a:t>
            </a:r>
            <a:endParaRPr lang="en-US" noProof="1" smtClean="0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Academy @ Facebook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4" tooltip="Telerik Softyware Academy @ Facebook"/>
              </a:rPr>
              <a:t>facebook.com/TelerikAcademy</a:t>
            </a:r>
            <a:endParaRPr lang="en-US" noProof="1" smtClean="0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 Forums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5" tooltip="Telerik Software Academy Forums - Community for Programmers"/>
              </a:rPr>
              <a:t>forums.academy.telerik.com</a:t>
            </a:r>
            <a:endParaRPr lang="en-US" noProof="1"/>
          </a:p>
        </p:txBody>
      </p:sp>
      <p:pic>
        <p:nvPicPr>
          <p:cNvPr id="5" name="Picture 5">
            <a:hlinkClick r:id="rId5" tooltip="Telerik Software Academy Forums - Discussion Board for Developers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898" y="5218092"/>
            <a:ext cx="1162902" cy="1268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>
            <a:hlinkClick r:id="rId3" tooltip="Telerik Software Academy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941" y="2667000"/>
            <a:ext cx="3137859" cy="918234"/>
          </a:xfrm>
          <a:prstGeom prst="rect">
            <a:avLst/>
          </a:prstGeom>
          <a:noFill/>
          <a:ln>
            <a:solidFill>
              <a:srgbClr val="9BCC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>
            <a:hlinkClick r:id="rId8" tooltip="Telerik Academy @ Facebook"/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8587" y="4003901"/>
            <a:ext cx="938213" cy="93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>
            <a:hlinkClick r:id="rId2"/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025" y="1123558"/>
            <a:ext cx="1124775" cy="112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1dbb5ef1eec16f96b550c792a3c169f6d68"/>
</p:tagLst>
</file>

<file path=ppt/theme/theme1.xml><?xml version="1.0" encoding="utf-8"?>
<a:theme xmlns:a="http://schemas.openxmlformats.org/drawingml/2006/main" name="Telerik Academy">
  <a:themeElements>
    <a:clrScheme name="Telerik Colors Theme">
      <a:dk1>
        <a:sysClr val="windowText" lastClr="000000"/>
      </a:dk1>
      <a:lt1>
        <a:srgbClr val="CCFF66"/>
      </a:lt1>
      <a:dk2>
        <a:srgbClr val="30356E"/>
      </a:dk2>
      <a:lt2>
        <a:srgbClr val="CCFF33"/>
      </a:lt2>
      <a:accent1>
        <a:srgbClr val="CC4757"/>
      </a:accent1>
      <a:accent2>
        <a:srgbClr val="FF6F61"/>
      </a:accent2>
      <a:accent3>
        <a:srgbClr val="FF953E"/>
      </a:accent3>
      <a:accent4>
        <a:srgbClr val="F8BD52"/>
      </a:accent4>
      <a:accent5>
        <a:srgbClr val="46A6BD"/>
      </a:accent5>
      <a:accent6>
        <a:srgbClr val="5488BC"/>
      </a:accent6>
      <a:hlink>
        <a:srgbClr val="76B200"/>
      </a:hlink>
      <a:folHlink>
        <a:srgbClr val="FFCF3E"/>
      </a:folHlink>
    </a:clrScheme>
    <a:fontScheme name="Deluxe">
      <a:maj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Deluxe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280000"/>
              </a:schemeClr>
            </a:gs>
            <a:gs pos="14000">
              <a:schemeClr val="phClr">
                <a:tint val="37000"/>
                <a:satMod val="250000"/>
              </a:schemeClr>
            </a:gs>
            <a:gs pos="45000">
              <a:schemeClr val="phClr">
                <a:tint val="53000"/>
                <a:satMod val="220000"/>
              </a:schemeClr>
            </a:gs>
            <a:gs pos="65000">
              <a:schemeClr val="phClr">
                <a:tint val="53000"/>
                <a:satMod val="220000"/>
              </a:schemeClr>
            </a:gs>
            <a:gs pos="86000">
              <a:schemeClr val="phClr">
                <a:tint val="42000"/>
                <a:satMod val="240000"/>
              </a:schemeClr>
            </a:gs>
            <a:gs pos="100000">
              <a:schemeClr val="phClr">
                <a:tint val="20000"/>
                <a:satMod val="2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0000">
              <a:schemeClr val="phClr">
                <a:satMod val="150000"/>
              </a:schemeClr>
            </a:gs>
            <a:gs pos="100000">
              <a:schemeClr val="phClr">
                <a:tint val="75000"/>
                <a:satMod val="20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atMod val="14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  <a:effectStyle>
          <a:effectLst>
            <a:reflection blurRad="12700" stA="26000" endPos="28000" dist="38100" dir="5400000" sy="-100000"/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90500" h="1016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3000"/>
                <a:satMod val="1550000"/>
              </a:schemeClr>
            </a:gs>
            <a:gs pos="1000">
              <a:schemeClr val="phClr">
                <a:tint val="48000"/>
                <a:satMod val="155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r="210000" b="300000"/>
          </a:path>
        </a:gradFill>
        <a:gradFill rotWithShape="1">
          <a:gsLst>
            <a:gs pos="5000">
              <a:schemeClr val="phClr">
                <a:tint val="38000"/>
                <a:satMod val="1800000"/>
              </a:schemeClr>
            </a:gs>
            <a:gs pos="5000">
              <a:schemeClr val="phClr">
                <a:tint val="40000"/>
                <a:satMod val="18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20000" t="30000" r="135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Deluxe</Template>
  <TotalTime>8933</TotalTime>
  <Words>640</Words>
  <Application>Microsoft Office PowerPoint</Application>
  <PresentationFormat>On-screen Show (4:3)</PresentationFormat>
  <Paragraphs>193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Telerik Academy</vt:lpstr>
      <vt:lpstr>Kendo UI ASP.NET MVC Wrappers</vt:lpstr>
      <vt:lpstr>Table of Contents</vt:lpstr>
      <vt:lpstr>Kendo UI</vt:lpstr>
      <vt:lpstr>What is Kendo UI? </vt:lpstr>
      <vt:lpstr>What Does Kendo UI Provide? </vt:lpstr>
      <vt:lpstr>What Does Kendo UI Provide? </vt:lpstr>
      <vt:lpstr>Include Kendo UI in Project</vt:lpstr>
      <vt:lpstr>Include Kendo UI in Project</vt:lpstr>
      <vt:lpstr>Include Kendo UI in Project</vt:lpstr>
      <vt:lpstr>Include Kendo UI in Project</vt:lpstr>
      <vt:lpstr>Using Kendo UI</vt:lpstr>
      <vt:lpstr>Installing Kendo UI for MVC</vt:lpstr>
      <vt:lpstr>Kendo UI HTML Helpers</vt:lpstr>
      <vt:lpstr>Kendo UI HTML Helpers</vt:lpstr>
      <vt:lpstr>Kendo UI HTML Helpers</vt:lpstr>
      <vt:lpstr>Kendo UI HTML Helpers</vt:lpstr>
      <vt:lpstr>Kendo UI MVC Helpers</vt:lpstr>
      <vt:lpstr>Kendo UI ASP.NET MVC Wrappers</vt:lpstr>
      <vt:lpstr>Homework</vt:lpstr>
      <vt:lpstr>Free Trainings @ Telerik Academy</vt:lpstr>
    </vt:vector>
  </TitlesOfParts>
  <Company>Telerik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Telerik Software Academy</dc:title>
  <dc:subject>Telerik Software Academy</dc:subject>
  <dc:creator>Nikolay.IT</dc:creator>
  <cp:keywords>telerik software academy, free courses for developers</cp:keywords>
  <cp:lastModifiedBy>Ivaylo Kenov</cp:lastModifiedBy>
  <cp:revision>919</cp:revision>
  <dcterms:created xsi:type="dcterms:W3CDTF">2007-12-08T16:03:35Z</dcterms:created>
  <dcterms:modified xsi:type="dcterms:W3CDTF">2013-09-26T15:54:00Z</dcterms:modified>
  <cp:category>software engineering</cp:category>
</cp:coreProperties>
</file>